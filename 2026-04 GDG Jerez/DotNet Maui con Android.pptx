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notesMasterIdLst>
    <p:notesMasterId r:id="rId20"/>
  </p:notesMasterIdLst>
  <p:sldIdLst>
    <p:sldId id="256" r:id="rId2"/>
    <p:sldId id="259" r:id="rId3"/>
    <p:sldId id="260" r:id="rId4"/>
    <p:sldId id="257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4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20775E-8237-44D8-A96F-8CB12A2F4181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F67F37-9AFF-4E9E-8313-3E4806690C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2027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67F37-9AFF-4E9E-8313-3E4806690C6F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3068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18.15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67F37-9AFF-4E9E-8313-3E4806690C6F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7083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67F37-9AFF-4E9E-8313-3E4806690C6F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3521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18.20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67F37-9AFF-4E9E-8313-3E4806690C6F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665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Black – </a:t>
            </a:r>
            <a:r>
              <a:rPr lang="en-US" dirty="0" err="1"/>
              <a:t>Mostrar</a:t>
            </a:r>
            <a:r>
              <a:rPr lang="en-US" dirty="0"/>
              <a:t> </a:t>
            </a:r>
            <a:r>
              <a:rPr lang="en-US" dirty="0" err="1"/>
              <a:t>información</a:t>
            </a:r>
            <a:endParaRPr lang="en-US" dirty="0"/>
          </a:p>
          <a:p>
            <a:r>
              <a:rPr lang="en-US" dirty="0"/>
              <a:t>Light blue – User inputs</a:t>
            </a:r>
          </a:p>
          <a:p>
            <a:r>
              <a:rPr lang="en-US" dirty="0"/>
              <a:t>Dark blue – </a:t>
            </a:r>
            <a:r>
              <a:rPr lang="en-US" dirty="0" err="1"/>
              <a:t>Controles</a:t>
            </a:r>
            <a:r>
              <a:rPr lang="en-US" dirty="0"/>
              <a:t> </a:t>
            </a:r>
            <a:r>
              <a:rPr lang="en-US" dirty="0" err="1"/>
              <a:t>compuestos</a:t>
            </a:r>
            <a:endParaRPr lang="en-US" dirty="0"/>
          </a:p>
          <a:p>
            <a:r>
              <a:rPr lang="en-US" dirty="0"/>
              <a:t>Turquoise – Shapes, draws and forms</a:t>
            </a:r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67F37-9AFF-4E9E-8313-3E4806690C6F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2838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18.30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67F37-9AFF-4E9E-8313-3E4806690C6F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11153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18.40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67F37-9AFF-4E9E-8313-3E4806690C6F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1498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2ED644-8BD0-1B20-A5E3-D9844DE69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877F19-4B18-0E13-07BD-16E67BFE6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2B5FB9-F9B4-B964-9951-86D8BE7AD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8D23E-9358-405C-A48F-D172F738ED6A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052DE6-EF6C-25CE-A923-193863C79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332A34-D32E-F732-442A-395ED6466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8D9F-F0CE-4EAC-BD52-5112E618ED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6703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52AB50-C661-F69F-2DC3-8623E9182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08DD0E-C511-9E58-9385-E5E664E46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7EAD86-1110-C6CD-F9AB-1CC55674E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8D23E-9358-405C-A48F-D172F738ED6A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00B403-013A-3962-33D2-C71545AD0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3C1A17-80A6-883F-2BF5-0CDB97228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8D9F-F0CE-4EAC-BD52-5112E618ED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1474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D86AF9-7953-D5BD-47A5-B7E7ACB5E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D9368B5-05C0-37FA-4ABD-9A4C1A16A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2E6681-B459-58A0-09BF-D9BFFECAB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8D23E-9358-405C-A48F-D172F738ED6A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67BB91-3A62-6C0C-D4A9-7F18638C3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DD1C7E-F644-63E1-8639-29563C6B0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8D9F-F0CE-4EAC-BD52-5112E618ED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6052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7FCA20-B8E1-65C1-F0C8-5F72AA76D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5A23BA-2859-C6B1-F979-26FD951391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C5D9EEF-7CD9-37E1-D117-7F7D87D082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2C30CAE-672B-DBF6-45B5-012B6680B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8D23E-9358-405C-A48F-D172F738ED6A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F7012C5-6F1F-6C8B-451E-158F1FD35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5E79D0D-04D6-4C35-C4A2-FBA6A4CAD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8D9F-F0CE-4EAC-BD52-5112E618ED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9317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0EAA04-C238-ACB3-4469-3EBAF7446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A0F241-D2FB-9481-18E6-7D600F025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E129ED6-5254-7581-C8C7-405E450C1F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A2705F-CA0A-C26F-EEA9-C244DCCA09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1E0B184-3F94-1B43-8F65-CDEA484FAB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968CC9D-079A-D358-BE1B-1468E6D5A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8D23E-9358-405C-A48F-D172F738ED6A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5EA39F2-CDBD-F31A-3041-A34204319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AC429F2-E0FA-E540-2AC0-CE075D09D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8D9F-F0CE-4EAC-BD52-5112E618ED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4180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9DEDE8-26CD-3671-5668-2CC2BDC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8A07C3A-19E1-D1C1-5228-E3BC3310B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8D23E-9358-405C-A48F-D172F738ED6A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4DD75C-53A2-E242-A543-7A4CC4079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998A20E-D39A-2F9C-EB96-2EA139E1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8D9F-F0CE-4EAC-BD52-5112E618ED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8560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406AA7A-9912-28BD-F223-393445BD2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8D23E-9358-405C-A48F-D172F738ED6A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71479E6-D2E3-C836-F282-628CE26C6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6040A6-CEED-7FA5-090E-8BAFE1F24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8D9F-F0CE-4EAC-BD52-5112E618ED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1439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59A6AD-0E3A-936D-4279-B22464B43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97116A-A30B-1F79-8515-266092BA8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7492F4-91AB-6324-C7EA-5BD0F9FE3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5D2A6A3-38BD-F1B9-1574-B6706C5A5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8D23E-9358-405C-A48F-D172F738ED6A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1AAE72-FC00-DD1A-EF7F-80786DC6D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C0EC94-D5AB-9DF4-B95D-D083C6A60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8D9F-F0CE-4EAC-BD52-5112E618ED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922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936495-ECB3-9E78-0452-78080EF51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6007641-4A4D-D87D-D8D7-BEE20410BF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B4599BE-DEAA-6095-5A25-490037A439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06C643-7B35-AC57-02DB-64E7B47E8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8D23E-9358-405C-A48F-D172F738ED6A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9427ADF-A3FC-C493-5F31-EE8604CD1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2012157-0CEC-0D75-BFCB-03F3DFED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8D9F-F0CE-4EAC-BD52-5112E618ED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1374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C5E23D-B28F-6685-AE39-05A7B4528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2C97A7C-93CD-BEA3-8EBE-B725203256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926B39-6DFE-D571-2F0B-76D9C6D31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8D23E-9358-405C-A48F-D172F738ED6A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6CA03E-4F85-0FFF-9448-C15BB5F37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6AD9FD-249F-89C3-A968-34840E969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8D9F-F0CE-4EAC-BD52-5112E618ED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393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3DADF58-E08C-E2E3-A515-777F1300E4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488FD6C-7574-C462-C38E-B35BC211E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8A1FCD-C12F-C6F6-BACA-3E69CB66E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8D23E-9358-405C-A48F-D172F738ED6A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17D8B1-F65D-4AA0-D1C2-AA340FCF1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4E63B9-E291-FBB5-175F-BC0DCA404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8D9F-F0CE-4EAC-BD52-5112E618ED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61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9204E01-FD09-C06B-7FB8-9A808041C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3C0970-D7F4-A906-2690-F29F756E9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66B02B-57DD-ADC9-84CA-8D0A41FF6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8D23E-9358-405C-A48F-D172F738ED6A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5BABD9-D279-F77F-362A-F58FFED252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0C93CC-4FC1-D8F1-D263-3E9B7CEAFF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A8D9F-F0CE-4EAC-BD52-5112E618ED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4225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1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microsoft.com/office/2007/relationships/hdphoto" Target="../media/hdphoto2.wdp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0.png"/><Relationship Id="rId5" Type="http://schemas.openxmlformats.org/officeDocument/2006/relationships/image" Target="../media/image5.svg"/><Relationship Id="rId15" Type="http://schemas.openxmlformats.org/officeDocument/2006/relationships/image" Target="../media/image12.svg"/><Relationship Id="rId10" Type="http://schemas.microsoft.com/office/2007/relationships/hdphoto" Target="../media/hdphoto1.wdp"/><Relationship Id="rId4" Type="http://schemas.openxmlformats.org/officeDocument/2006/relationships/image" Target="../media/image4.emf"/><Relationship Id="rId9" Type="http://schemas.openxmlformats.org/officeDocument/2006/relationships/image" Target="../media/image9.png"/><Relationship Id="rId14" Type="http://schemas.microsoft.com/office/2007/relationships/hdphoto" Target="../media/hdphoto3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20.png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emf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github.com/dotnet/maui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DotNetMauiE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syncfusion/essential-ui-kit-for-.net-maui" TargetMode="External"/><Relationship Id="rId5" Type="http://schemas.openxmlformats.org/officeDocument/2006/relationships/hyperlink" Target="https://github.com/CommunityToolkit/Maui" TargetMode="External"/><Relationship Id="rId4" Type="http://schemas.openxmlformats.org/officeDocument/2006/relationships/hyperlink" Target="https://github.com/dotnet/maui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DotNetMauiES" TargetMode="External"/><Relationship Id="rId2" Type="http://schemas.openxmlformats.org/officeDocument/2006/relationships/hyperlink" Target="https://github.com/marcoablanco/Event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8D0FBD-66BC-F02E-8E97-6FEBDE61E6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/>
              <a:t>DotNet.Maui para Android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CEA87418-F95C-2259-06FF-AA48694D2D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endParaRPr lang="es-ES" dirty="0"/>
          </a:p>
          <a:p>
            <a:pPr algn="l"/>
            <a:r>
              <a:rPr lang="es-ES" dirty="0"/>
              <a:t>Marco Antonio Blanco</a:t>
            </a:r>
          </a:p>
          <a:p>
            <a:pPr algn="l"/>
            <a:r>
              <a:rPr lang="es-ES" i="1" dirty="0"/>
              <a:t>MVP: Developer Technologies</a:t>
            </a:r>
          </a:p>
          <a:p>
            <a:pPr algn="l"/>
            <a:r>
              <a:rPr lang="es-ES" dirty="0"/>
              <a:t>Programador de aplicaciones móviles desde 2014</a:t>
            </a:r>
          </a:p>
          <a:p>
            <a:pPr algn="l"/>
            <a:r>
              <a:rPr lang="es-ES" i="1" dirty="0"/>
              <a:t>Mobile Team Lead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82E0562-CDF6-3C69-7633-45BE83F91D77}"/>
              </a:ext>
            </a:extLst>
          </p:cNvPr>
          <p:cNvSpPr txBox="1"/>
          <p:nvPr/>
        </p:nvSpPr>
        <p:spPr>
          <a:xfrm>
            <a:off x="7334865" y="5735637"/>
            <a:ext cx="4247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/>
              <a:t>AGRADECIMIENTOS</a:t>
            </a:r>
          </a:p>
        </p:txBody>
      </p:sp>
    </p:spTree>
    <p:extLst>
      <p:ext uri="{BB962C8B-B14F-4D97-AF65-F5344CB8AC3E}">
        <p14:creationId xmlns:p14="http://schemas.microsoft.com/office/powerpoint/2010/main" val="1713241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F314-51AD-C86C-DA28-9AF49827A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¿Para qué lo usamos?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EE10CC-4688-6C4F-1994-A53D70500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No usar Dart, ni Flutter</a:t>
            </a:r>
          </a:p>
          <a:p>
            <a:endParaRPr lang="es-ES" dirty="0"/>
          </a:p>
          <a:p>
            <a:r>
              <a:rPr lang="es-ES" dirty="0"/>
              <a:t>Desarrollo multiplataforma</a:t>
            </a:r>
          </a:p>
          <a:p>
            <a:endParaRPr lang="es-ES" dirty="0"/>
          </a:p>
          <a:p>
            <a:r>
              <a:rPr lang="es-ES" dirty="0"/>
              <a:t>Base de código unificada</a:t>
            </a:r>
          </a:p>
          <a:p>
            <a:endParaRPr lang="es-ES" dirty="0"/>
          </a:p>
          <a:p>
            <a:r>
              <a:rPr lang="es-ES" dirty="0"/>
              <a:t>Evitar Java</a:t>
            </a:r>
          </a:p>
          <a:p>
            <a:endParaRPr lang="es-ES" dirty="0"/>
          </a:p>
          <a:p>
            <a:r>
              <a:rPr lang="es-ES" dirty="0"/>
              <a:t>Evitar Dart con muchas ganas.</a:t>
            </a:r>
          </a:p>
        </p:txBody>
      </p:sp>
    </p:spTree>
    <p:extLst>
      <p:ext uri="{BB962C8B-B14F-4D97-AF65-F5344CB8AC3E}">
        <p14:creationId xmlns:p14="http://schemas.microsoft.com/office/powerpoint/2010/main" val="1663326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14654-028F-FB10-6D9A-5CC7FE905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Historia</a:t>
            </a:r>
          </a:p>
        </p:txBody>
      </p:sp>
      <p:pic>
        <p:nvPicPr>
          <p:cNvPr id="4" name="Picture 4" descr="From Xamarin Native to Xamarin.Forms: Reaping the Rewards without the Risk">
            <a:extLst>
              <a:ext uri="{FF2B5EF4-FFF2-40B4-BE49-F238E27FC236}">
                <a16:creationId xmlns:a16="http://schemas.microsoft.com/office/drawing/2014/main" id="{33D8551D-1928-8001-4257-27AF27AAA7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2136305" y="2132708"/>
            <a:ext cx="7919390" cy="3737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9386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6308F3-7584-DFCF-AFD0-8069EBD0F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es?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96E37F6-1E8D-16F3-FF37-F8FD29E34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Framework multiplataforma nativo</a:t>
            </a:r>
          </a:p>
          <a:p>
            <a:endParaRPr lang="es-ES" dirty="0"/>
          </a:p>
          <a:p>
            <a:r>
              <a:rPr lang="es-ES" dirty="0"/>
              <a:t>XAML</a:t>
            </a:r>
          </a:p>
          <a:p>
            <a:endParaRPr lang="es-ES" dirty="0"/>
          </a:p>
          <a:p>
            <a:r>
              <a:rPr lang="es-ES" dirty="0"/>
              <a:t>C#</a:t>
            </a:r>
          </a:p>
          <a:p>
            <a:endParaRPr lang="es-ES" dirty="0"/>
          </a:p>
          <a:p>
            <a:r>
              <a:rPr lang="es-ES" dirty="0"/>
              <a:t>Código abierto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78722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0D458097-7A89-2810-377A-79422A153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no es?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944EF0D5-B399-12DE-DD9F-8619B6AC3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Cambia-formas, semidios del viento y el mar, héroe de los hombres y las mujeres.</a:t>
            </a:r>
          </a:p>
          <a:p>
            <a:endParaRPr lang="es-ES" dirty="0"/>
          </a:p>
          <a:p>
            <a:r>
              <a:rPr lang="es-ES" dirty="0"/>
              <a:t>Un lenguaje</a:t>
            </a:r>
          </a:p>
          <a:p>
            <a:endParaRPr lang="es-ES" dirty="0"/>
          </a:p>
          <a:p>
            <a:r>
              <a:rPr lang="es-ES" dirty="0"/>
              <a:t>Un compilador</a:t>
            </a:r>
          </a:p>
          <a:p>
            <a:endParaRPr lang="es-ES" dirty="0"/>
          </a:p>
          <a:p>
            <a:r>
              <a:rPr lang="es-ES" dirty="0"/>
              <a:t>Una capa superpuesta</a:t>
            </a:r>
          </a:p>
          <a:p>
            <a:endParaRPr lang="es-ES" dirty="0"/>
          </a:p>
          <a:p>
            <a:r>
              <a:rPr lang="es-ES" dirty="0"/>
              <a:t>DotNet.Android o DotNet.iOS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9069E97-09F7-748A-B37D-491487CD5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7574" y="2389505"/>
            <a:ext cx="3677835" cy="4103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igno de multiplicación 7">
            <a:extLst>
              <a:ext uri="{FF2B5EF4-FFF2-40B4-BE49-F238E27FC236}">
                <a16:creationId xmlns:a16="http://schemas.microsoft.com/office/drawing/2014/main" id="{83D65B0F-6C5E-AD98-6F7F-D63746EB720C}"/>
              </a:ext>
            </a:extLst>
          </p:cNvPr>
          <p:cNvSpPr/>
          <p:nvPr/>
        </p:nvSpPr>
        <p:spPr>
          <a:xfrm>
            <a:off x="7857574" y="3623945"/>
            <a:ext cx="3901440" cy="2868930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0265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D7148E-697F-5317-EB82-27A692B5D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Plataformas</a:t>
            </a:r>
          </a:p>
        </p:txBody>
      </p:sp>
      <p:pic>
        <p:nvPicPr>
          <p:cNvPr id="4" name="Graphic 31" descr="Smart Phone with solid fill">
            <a:extLst>
              <a:ext uri="{FF2B5EF4-FFF2-40B4-BE49-F238E27FC236}">
                <a16:creationId xmlns:a16="http://schemas.microsoft.com/office/drawing/2014/main" id="{2002DC76-5E21-7C90-9DF7-74CB4609CC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3757" y="1890586"/>
            <a:ext cx="2064696" cy="1983248"/>
          </a:xfrm>
          <a:prstGeom prst="rect">
            <a:avLst/>
          </a:prstGeom>
        </p:spPr>
      </p:pic>
      <p:pic>
        <p:nvPicPr>
          <p:cNvPr id="5" name="Picture 28">
            <a:extLst>
              <a:ext uri="{FF2B5EF4-FFF2-40B4-BE49-F238E27FC236}">
                <a16:creationId xmlns:a16="http://schemas.microsoft.com/office/drawing/2014/main" id="{2D25423B-5B83-58EB-B51F-025DBC9630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9824" y="2460302"/>
            <a:ext cx="521230" cy="708087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</p:pic>
      <p:pic>
        <p:nvPicPr>
          <p:cNvPr id="6" name="Graphic 29" descr="Smart Phone outline">
            <a:extLst>
              <a:ext uri="{FF2B5EF4-FFF2-40B4-BE49-F238E27FC236}">
                <a16:creationId xmlns:a16="http://schemas.microsoft.com/office/drawing/2014/main" id="{291FCBFC-8D6F-ED37-2420-6ED08F3B0D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80342" y="1803731"/>
            <a:ext cx="1860195" cy="2070103"/>
          </a:xfrm>
          <a:prstGeom prst="rect">
            <a:avLst/>
          </a:prstGeom>
        </p:spPr>
      </p:pic>
      <p:pic>
        <p:nvPicPr>
          <p:cNvPr id="7" name="Graphic 27" descr="Laptop with solid fill">
            <a:extLst>
              <a:ext uri="{FF2B5EF4-FFF2-40B4-BE49-F238E27FC236}">
                <a16:creationId xmlns:a16="http://schemas.microsoft.com/office/drawing/2014/main" id="{56B6636B-CE6D-7302-EFF0-FF42EF1700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51584" y="4029467"/>
            <a:ext cx="2782696" cy="2782696"/>
          </a:xfrm>
          <a:prstGeom prst="rect">
            <a:avLst/>
          </a:prstGeom>
        </p:spPr>
      </p:pic>
      <p:grpSp>
        <p:nvGrpSpPr>
          <p:cNvPr id="8" name="Group 42">
            <a:extLst>
              <a:ext uri="{FF2B5EF4-FFF2-40B4-BE49-F238E27FC236}">
                <a16:creationId xmlns:a16="http://schemas.microsoft.com/office/drawing/2014/main" id="{5D5C04B6-56CC-9749-5B9E-21B774C14BA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863661" y="5030374"/>
            <a:ext cx="546633" cy="566667"/>
            <a:chOff x="3492" y="1769"/>
            <a:chExt cx="854" cy="864"/>
          </a:xfrm>
          <a:solidFill>
            <a:srgbClr val="7030A0"/>
          </a:solidFill>
        </p:grpSpPr>
        <p:sp>
          <p:nvSpPr>
            <p:cNvPr id="9" name="Freeform 43">
              <a:extLst>
                <a:ext uri="{FF2B5EF4-FFF2-40B4-BE49-F238E27FC236}">
                  <a16:creationId xmlns:a16="http://schemas.microsoft.com/office/drawing/2014/main" id="{E2D04D4A-EF11-B120-B1CA-E868727FAC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" y="1769"/>
              <a:ext cx="474" cy="413"/>
            </a:xfrm>
            <a:custGeom>
              <a:avLst/>
              <a:gdLst>
                <a:gd name="T0" fmla="*/ 0 w 474"/>
                <a:gd name="T1" fmla="*/ 413 h 413"/>
                <a:gd name="T2" fmla="*/ 474 w 474"/>
                <a:gd name="T3" fmla="*/ 413 h 413"/>
                <a:gd name="T4" fmla="*/ 474 w 474"/>
                <a:gd name="T5" fmla="*/ 0 h 413"/>
                <a:gd name="T6" fmla="*/ 0 w 474"/>
                <a:gd name="T7" fmla="*/ 69 h 413"/>
                <a:gd name="T8" fmla="*/ 0 w 474"/>
                <a:gd name="T9" fmla="*/ 413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4" h="413">
                  <a:moveTo>
                    <a:pt x="0" y="413"/>
                  </a:moveTo>
                  <a:lnTo>
                    <a:pt x="474" y="413"/>
                  </a:lnTo>
                  <a:lnTo>
                    <a:pt x="474" y="0"/>
                  </a:lnTo>
                  <a:lnTo>
                    <a:pt x="0" y="69"/>
                  </a:lnTo>
                  <a:lnTo>
                    <a:pt x="0" y="413"/>
                  </a:lnTo>
                  <a:close/>
                </a:path>
              </a:pathLst>
            </a:custGeom>
            <a:grpFill/>
            <a:ln w="9525">
              <a:solidFill>
                <a:srgbClr val="7030A0"/>
              </a:solidFill>
              <a:round/>
              <a:headEnd/>
              <a:tailEnd/>
            </a:ln>
          </p:spPr>
          <p:txBody>
            <a:bodyPr vert="horz" wrap="square" lIns="89630" tIns="44814" rIns="89630" bIns="4481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2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5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333">
                      <a:prstClr val="white"/>
                    </a:gs>
                    <a:gs pos="8000">
                      <a:prstClr val="white"/>
                    </a:gs>
                  </a:gsLst>
                  <a:lin ang="5400000" scaled="0"/>
                </a:gra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0" name="Freeform 44">
              <a:extLst>
                <a:ext uri="{FF2B5EF4-FFF2-40B4-BE49-F238E27FC236}">
                  <a16:creationId xmlns:a16="http://schemas.microsoft.com/office/drawing/2014/main" id="{F48E2E81-F13A-52CC-7720-4C142D8B1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2" y="1844"/>
              <a:ext cx="345" cy="338"/>
            </a:xfrm>
            <a:custGeom>
              <a:avLst/>
              <a:gdLst>
                <a:gd name="T0" fmla="*/ 345 w 345"/>
                <a:gd name="T1" fmla="*/ 338 h 338"/>
                <a:gd name="T2" fmla="*/ 345 w 345"/>
                <a:gd name="T3" fmla="*/ 0 h 338"/>
                <a:gd name="T4" fmla="*/ 0 w 345"/>
                <a:gd name="T5" fmla="*/ 50 h 338"/>
                <a:gd name="T6" fmla="*/ 0 w 345"/>
                <a:gd name="T7" fmla="*/ 338 h 338"/>
                <a:gd name="T8" fmla="*/ 345 w 345"/>
                <a:gd name="T9" fmla="*/ 338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5" h="338">
                  <a:moveTo>
                    <a:pt x="345" y="338"/>
                  </a:moveTo>
                  <a:lnTo>
                    <a:pt x="345" y="0"/>
                  </a:lnTo>
                  <a:lnTo>
                    <a:pt x="0" y="50"/>
                  </a:lnTo>
                  <a:lnTo>
                    <a:pt x="0" y="338"/>
                  </a:lnTo>
                  <a:lnTo>
                    <a:pt x="345" y="338"/>
                  </a:lnTo>
                  <a:close/>
                </a:path>
              </a:pathLst>
            </a:custGeom>
            <a:grpFill/>
            <a:ln w="9525">
              <a:solidFill>
                <a:srgbClr val="7030A0"/>
              </a:solidFill>
              <a:round/>
              <a:headEnd/>
              <a:tailEnd/>
            </a:ln>
          </p:spPr>
          <p:txBody>
            <a:bodyPr vert="horz" wrap="square" lIns="89630" tIns="44814" rIns="89630" bIns="4481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2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5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333">
                      <a:prstClr val="white"/>
                    </a:gs>
                    <a:gs pos="8000">
                      <a:prstClr val="white"/>
                    </a:gs>
                  </a:gsLst>
                  <a:lin ang="5400000" scaled="0"/>
                </a:gra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1" name="Freeform 45">
              <a:extLst>
                <a:ext uri="{FF2B5EF4-FFF2-40B4-BE49-F238E27FC236}">
                  <a16:creationId xmlns:a16="http://schemas.microsoft.com/office/drawing/2014/main" id="{B2864852-E869-CB0A-65A9-689A081FE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2" y="2214"/>
              <a:ext cx="345" cy="345"/>
            </a:xfrm>
            <a:custGeom>
              <a:avLst/>
              <a:gdLst>
                <a:gd name="T0" fmla="*/ 345 w 345"/>
                <a:gd name="T1" fmla="*/ 0 h 345"/>
                <a:gd name="T2" fmla="*/ 0 w 345"/>
                <a:gd name="T3" fmla="*/ 0 h 345"/>
                <a:gd name="T4" fmla="*/ 0 w 345"/>
                <a:gd name="T5" fmla="*/ 294 h 345"/>
                <a:gd name="T6" fmla="*/ 345 w 345"/>
                <a:gd name="T7" fmla="*/ 345 h 345"/>
                <a:gd name="T8" fmla="*/ 345 w 345"/>
                <a:gd name="T9" fmla="*/ 0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5" h="345">
                  <a:moveTo>
                    <a:pt x="345" y="0"/>
                  </a:moveTo>
                  <a:lnTo>
                    <a:pt x="0" y="0"/>
                  </a:lnTo>
                  <a:lnTo>
                    <a:pt x="0" y="294"/>
                  </a:lnTo>
                  <a:lnTo>
                    <a:pt x="345" y="345"/>
                  </a:lnTo>
                  <a:lnTo>
                    <a:pt x="345" y="0"/>
                  </a:lnTo>
                  <a:close/>
                </a:path>
              </a:pathLst>
            </a:custGeom>
            <a:grpFill/>
            <a:ln w="9525">
              <a:solidFill>
                <a:srgbClr val="7030A0"/>
              </a:solidFill>
              <a:round/>
              <a:headEnd/>
              <a:tailEnd/>
            </a:ln>
          </p:spPr>
          <p:txBody>
            <a:bodyPr vert="horz" wrap="square" lIns="89630" tIns="44814" rIns="89630" bIns="4481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2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5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333">
                      <a:prstClr val="white"/>
                    </a:gs>
                    <a:gs pos="8000">
                      <a:prstClr val="white"/>
                    </a:gs>
                  </a:gsLst>
                  <a:lin ang="5400000" scaled="0"/>
                </a:gra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2" name="Freeform 46">
              <a:extLst>
                <a:ext uri="{FF2B5EF4-FFF2-40B4-BE49-F238E27FC236}">
                  <a16:creationId xmlns:a16="http://schemas.microsoft.com/office/drawing/2014/main" id="{D52EA52F-3FC6-5E0F-B601-18E08C833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" y="2214"/>
              <a:ext cx="474" cy="419"/>
            </a:xfrm>
            <a:custGeom>
              <a:avLst/>
              <a:gdLst>
                <a:gd name="T0" fmla="*/ 0 w 474"/>
                <a:gd name="T1" fmla="*/ 0 h 419"/>
                <a:gd name="T2" fmla="*/ 0 w 474"/>
                <a:gd name="T3" fmla="*/ 349 h 419"/>
                <a:gd name="T4" fmla="*/ 474 w 474"/>
                <a:gd name="T5" fmla="*/ 419 h 419"/>
                <a:gd name="T6" fmla="*/ 474 w 474"/>
                <a:gd name="T7" fmla="*/ 0 h 419"/>
                <a:gd name="T8" fmla="*/ 0 w 474"/>
                <a:gd name="T9" fmla="*/ 0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4" h="419">
                  <a:moveTo>
                    <a:pt x="0" y="0"/>
                  </a:moveTo>
                  <a:lnTo>
                    <a:pt x="0" y="349"/>
                  </a:lnTo>
                  <a:lnTo>
                    <a:pt x="474" y="419"/>
                  </a:lnTo>
                  <a:lnTo>
                    <a:pt x="47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rgbClr val="7030A0"/>
              </a:solidFill>
              <a:round/>
              <a:headEnd/>
              <a:tailEnd/>
            </a:ln>
          </p:spPr>
          <p:txBody>
            <a:bodyPr vert="horz" wrap="square" lIns="89630" tIns="44814" rIns="89630" bIns="4481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2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5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333">
                      <a:prstClr val="white"/>
                    </a:gs>
                    <a:gs pos="8000">
                      <a:prstClr val="white"/>
                    </a:gs>
                  </a:gsLst>
                  <a:lin ang="5400000" scaled="0"/>
                </a:gra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13" name="Graphic 21" descr="Laptop outline">
            <a:extLst>
              <a:ext uri="{FF2B5EF4-FFF2-40B4-BE49-F238E27FC236}">
                <a16:creationId xmlns:a16="http://schemas.microsoft.com/office/drawing/2014/main" id="{289F0A99-1987-E183-7841-E97C083017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9600" y="4041693"/>
            <a:ext cx="2782695" cy="2782695"/>
          </a:xfrm>
          <a:prstGeom prst="rect">
            <a:avLst/>
          </a:prstGeom>
        </p:spPr>
      </p:pic>
      <p:pic>
        <p:nvPicPr>
          <p:cNvPr id="14" name="Graphic 35" descr="Tablet with solid fill">
            <a:extLst>
              <a:ext uri="{FF2B5EF4-FFF2-40B4-BE49-F238E27FC236}">
                <a16:creationId xmlns:a16="http://schemas.microsoft.com/office/drawing/2014/main" id="{FC131D08-C604-AD0B-AE26-E45B6C9D92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65596" y="1427463"/>
            <a:ext cx="2594898" cy="2594898"/>
          </a:xfrm>
          <a:prstGeom prst="rect">
            <a:avLst/>
          </a:prstGeom>
        </p:spPr>
      </p:pic>
      <p:pic>
        <p:nvPicPr>
          <p:cNvPr id="15" name="Picture 41">
            <a:extLst>
              <a:ext uri="{FF2B5EF4-FFF2-40B4-BE49-F238E27FC236}">
                <a16:creationId xmlns:a16="http://schemas.microsoft.com/office/drawing/2014/main" id="{63BAA875-FA1D-B21E-8839-28A70A43D5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997" y="2238506"/>
            <a:ext cx="716096" cy="972811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6EB78E6D-1431-89F5-6199-BEFFC4478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356" y="4885380"/>
            <a:ext cx="769909" cy="769909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</p:pic>
      <p:pic>
        <p:nvPicPr>
          <p:cNvPr id="17" name="Picture 6" descr="Apple iOS Logo PNG Transparent &amp; SVG Vector - Freebie Supply">
            <a:extLst>
              <a:ext uri="{FF2B5EF4-FFF2-40B4-BE49-F238E27FC236}">
                <a16:creationId xmlns:a16="http://schemas.microsoft.com/office/drawing/2014/main" id="{62B08278-A988-214D-EC18-EA4969218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biLevel thresh="25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00000" contras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2977" y="2554441"/>
            <a:ext cx="745994" cy="559495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</p:pic>
      <p:pic>
        <p:nvPicPr>
          <p:cNvPr id="18" name="Picture 8">
            <a:extLst>
              <a:ext uri="{FF2B5EF4-FFF2-40B4-BE49-F238E27FC236}">
                <a16:creationId xmlns:a16="http://schemas.microsoft.com/office/drawing/2014/main" id="{4D42A65F-B089-13DB-7DE4-16B52DFDD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biLevel thresh="25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70000" contras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9938" y="2530238"/>
            <a:ext cx="1401149" cy="459752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</p:pic>
      <p:pic>
        <p:nvPicPr>
          <p:cNvPr id="19" name="Graphic 33" descr="Tablet outline">
            <a:extLst>
              <a:ext uri="{FF2B5EF4-FFF2-40B4-BE49-F238E27FC236}">
                <a16:creationId xmlns:a16="http://schemas.microsoft.com/office/drawing/2014/main" id="{348C81D3-A755-B132-C3AD-2CD62065AD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20947" y="3342465"/>
            <a:ext cx="4087582" cy="4077144"/>
          </a:xfrm>
          <a:prstGeom prst="rect">
            <a:avLst/>
          </a:prstGeom>
        </p:spPr>
      </p:pic>
      <p:pic>
        <p:nvPicPr>
          <p:cNvPr id="20" name="Picture 2" descr="Tizen | DiamondWindows Wikia | Fandom">
            <a:extLst>
              <a:ext uri="{FF2B5EF4-FFF2-40B4-BE49-F238E27FC236}">
                <a16:creationId xmlns:a16="http://schemas.microsoft.com/office/drawing/2014/main" id="{5BE9B859-6683-5B26-95A6-113108F68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913" y="4702257"/>
            <a:ext cx="1289649" cy="1246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9107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CE84B4-88A2-E46F-B9F9-C2C7EA805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¿Cómo funciona?</a:t>
            </a:r>
          </a:p>
        </p:txBody>
      </p:sp>
      <p:pic>
        <p:nvPicPr>
          <p:cNvPr id="4" name="Picture 2" descr="Personalizzazione del controllo .NET MAUI con gestori - .NET MAUI ...">
            <a:extLst>
              <a:ext uri="{FF2B5EF4-FFF2-40B4-BE49-F238E27FC236}">
                <a16:creationId xmlns:a16="http://schemas.microsoft.com/office/drawing/2014/main" id="{C098FC29-3698-1DD4-D810-CFC2A3332A6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909"/>
          <a:stretch/>
        </p:blipFill>
        <p:spPr bwMode="auto">
          <a:xfrm>
            <a:off x="1844815" y="1406721"/>
            <a:ext cx="8502370" cy="5086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0432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672136-A6CF-FF00-B1A4-982A3BA48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Controles nativos</a:t>
            </a:r>
          </a:p>
        </p:txBody>
      </p:sp>
      <p:pic>
        <p:nvPicPr>
          <p:cNvPr id="32" name="Picture 2">
            <a:extLst>
              <a:ext uri="{FF2B5EF4-FFF2-40B4-BE49-F238E27FC236}">
                <a16:creationId xmlns:a16="http://schemas.microsoft.com/office/drawing/2014/main" id="{F8C823D9-34F1-392A-B30A-72F56B397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678" y="2944649"/>
            <a:ext cx="1765288" cy="1765288"/>
          </a:xfrm>
          <a:prstGeom prst="rect">
            <a:avLst/>
          </a:prstGeom>
        </p:spPr>
      </p:pic>
      <p:pic>
        <p:nvPicPr>
          <p:cNvPr id="33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B9B66476-8BF9-35FA-67E3-83F963368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7592" y="3072525"/>
            <a:ext cx="2012715" cy="1509536"/>
          </a:xfrm>
          <a:prstGeom prst="rect">
            <a:avLst/>
          </a:prstGeom>
        </p:spPr>
      </p:pic>
      <p:pic>
        <p:nvPicPr>
          <p:cNvPr id="34" name="Picture 7">
            <a:extLst>
              <a:ext uri="{FF2B5EF4-FFF2-40B4-BE49-F238E27FC236}">
                <a16:creationId xmlns:a16="http://schemas.microsoft.com/office/drawing/2014/main" id="{03BF451C-8C15-59B0-A021-2972901FE9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8933" y="3554779"/>
            <a:ext cx="2335113" cy="513130"/>
          </a:xfrm>
          <a:prstGeom prst="rect">
            <a:avLst/>
          </a:prstGeom>
        </p:spPr>
      </p:pic>
      <p:sp>
        <p:nvSpPr>
          <p:cNvPr id="35" name="Rectangle 8">
            <a:extLst>
              <a:ext uri="{FF2B5EF4-FFF2-40B4-BE49-F238E27FC236}">
                <a16:creationId xmlns:a16="http://schemas.microsoft.com/office/drawing/2014/main" id="{61C53B5A-ABCF-61A9-87CF-FEF257FBBAFE}"/>
              </a:ext>
            </a:extLst>
          </p:cNvPr>
          <p:cNvSpPr/>
          <p:nvPr/>
        </p:nvSpPr>
        <p:spPr bwMode="auto">
          <a:xfrm>
            <a:off x="743248" y="2728322"/>
            <a:ext cx="2406147" cy="529352"/>
          </a:xfrm>
          <a:prstGeom prst="rect">
            <a:avLst/>
          </a:prstGeom>
          <a:solidFill>
            <a:srgbClr val="B455B6"/>
          </a:solidFill>
          <a:ln>
            <a:solidFill>
              <a:srgbClr val="B455B6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67" tIns="146294" rIns="182867" bIns="14629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2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Calibri" panose="020F0502020204030204"/>
                <a:ea typeface="Segoe UI" pitchFamily="34" charset="0"/>
                <a:cs typeface="Segoe UI" pitchFamily="34" charset="0"/>
              </a:rPr>
              <a:t>UIActivityIndicator</a:t>
            </a: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Calibri" panose="020F050202020403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6" name="Rectangle 9">
            <a:extLst>
              <a:ext uri="{FF2B5EF4-FFF2-40B4-BE49-F238E27FC236}">
                <a16:creationId xmlns:a16="http://schemas.microsoft.com/office/drawing/2014/main" id="{B2EC765E-6ABA-B9E8-F47B-7D91AFB38BA1}"/>
              </a:ext>
            </a:extLst>
          </p:cNvPr>
          <p:cNvSpPr/>
          <p:nvPr/>
        </p:nvSpPr>
        <p:spPr bwMode="auto">
          <a:xfrm>
            <a:off x="3380876" y="2728322"/>
            <a:ext cx="2406147" cy="529352"/>
          </a:xfrm>
          <a:prstGeom prst="rect">
            <a:avLst/>
          </a:prstGeom>
          <a:solidFill>
            <a:srgbClr val="77D06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67" tIns="146294" rIns="182867" bIns="14629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2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Calibri" panose="020F0502020204030204"/>
                <a:ea typeface="Segoe UI" pitchFamily="34" charset="0"/>
                <a:cs typeface="Segoe UI" pitchFamily="34" charset="0"/>
              </a:rPr>
              <a:t>ProgressBar</a:t>
            </a: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Calibri" panose="020F0502020204030204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37" name="Group 11">
            <a:extLst>
              <a:ext uri="{FF2B5EF4-FFF2-40B4-BE49-F238E27FC236}">
                <a16:creationId xmlns:a16="http://schemas.microsoft.com/office/drawing/2014/main" id="{A5E825D8-3F10-9732-A209-953DCB359448}"/>
              </a:ext>
            </a:extLst>
          </p:cNvPr>
          <p:cNvGrpSpPr/>
          <p:nvPr/>
        </p:nvGrpSpPr>
        <p:grpSpPr>
          <a:xfrm>
            <a:off x="4190316" y="1832891"/>
            <a:ext cx="787267" cy="787267"/>
            <a:chOff x="11434337" y="2930084"/>
            <a:chExt cx="1574643" cy="1574643"/>
          </a:xfrm>
          <a:solidFill>
            <a:srgbClr val="77D065"/>
          </a:solidFill>
        </p:grpSpPr>
        <p:sp>
          <p:nvSpPr>
            <p:cNvPr id="38" name="Oval 12">
              <a:extLst>
                <a:ext uri="{FF2B5EF4-FFF2-40B4-BE49-F238E27FC236}">
                  <a16:creationId xmlns:a16="http://schemas.microsoft.com/office/drawing/2014/main" id="{D8C7E73B-3036-5B83-0EC3-E598071EBDCE}"/>
                </a:ext>
              </a:extLst>
            </p:cNvPr>
            <p:cNvSpPr/>
            <p:nvPr/>
          </p:nvSpPr>
          <p:spPr bwMode="auto">
            <a:xfrm>
              <a:off x="11434337" y="2930084"/>
              <a:ext cx="1574643" cy="1574643"/>
            </a:xfrm>
            <a:prstGeom prst="ellipse">
              <a:avLst/>
            </a:prstGeom>
            <a:grp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89637" tIns="89637" rIns="33618" bIns="33618" rtlCol="0" anchor="b" anchorCtr="0"/>
            <a:lstStyle/>
            <a:p>
              <a:pPr algn="ctr" defTabSz="914007">
                <a:defRPr/>
              </a:pPr>
              <a:endParaRPr lang="en-US" sz="784" b="1" ker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Calibri" panose="020F0502020204030204"/>
                <a:ea typeface="Segoe UI" pitchFamily="34" charset="0"/>
                <a:cs typeface="Segoe UI" pitchFamily="34" charset="0"/>
                <a:sym typeface="Segoe UI"/>
              </a:endParaRPr>
            </a:p>
          </p:txBody>
        </p:sp>
        <p:pic>
          <p:nvPicPr>
            <p:cNvPr id="39" name="Picture 13">
              <a:extLst>
                <a:ext uri="{FF2B5EF4-FFF2-40B4-BE49-F238E27FC236}">
                  <a16:creationId xmlns:a16="http://schemas.microsoft.com/office/drawing/2014/main" id="{1E45C984-38DB-88FE-16B1-085D6041DD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884585" y="3297434"/>
              <a:ext cx="674145" cy="810875"/>
            </a:xfrm>
            <a:prstGeom prst="rect">
              <a:avLst/>
            </a:prstGeom>
            <a:grpFill/>
          </p:spPr>
        </p:pic>
      </p:grpSp>
      <p:grpSp>
        <p:nvGrpSpPr>
          <p:cNvPr id="40" name="Group 14">
            <a:extLst>
              <a:ext uri="{FF2B5EF4-FFF2-40B4-BE49-F238E27FC236}">
                <a16:creationId xmlns:a16="http://schemas.microsoft.com/office/drawing/2014/main" id="{F2EB67FE-247B-4C97-9C2F-CF465FA437E5}"/>
              </a:ext>
            </a:extLst>
          </p:cNvPr>
          <p:cNvGrpSpPr/>
          <p:nvPr/>
        </p:nvGrpSpPr>
        <p:grpSpPr>
          <a:xfrm>
            <a:off x="1552688" y="1825625"/>
            <a:ext cx="787267" cy="787267"/>
            <a:chOff x="3567813" y="1467990"/>
            <a:chExt cx="787322" cy="787322"/>
          </a:xfrm>
        </p:grpSpPr>
        <p:sp>
          <p:nvSpPr>
            <p:cNvPr id="41" name="Oval 15">
              <a:extLst>
                <a:ext uri="{FF2B5EF4-FFF2-40B4-BE49-F238E27FC236}">
                  <a16:creationId xmlns:a16="http://schemas.microsoft.com/office/drawing/2014/main" id="{1768CD1F-B5B1-6ABB-2E34-5856E8F3292E}"/>
                </a:ext>
              </a:extLst>
            </p:cNvPr>
            <p:cNvSpPr/>
            <p:nvPr/>
          </p:nvSpPr>
          <p:spPr bwMode="auto">
            <a:xfrm>
              <a:off x="3567813" y="1467990"/>
              <a:ext cx="787322" cy="787322"/>
            </a:xfrm>
            <a:prstGeom prst="ellipse">
              <a:avLst/>
            </a:prstGeom>
            <a:solidFill>
              <a:srgbClr val="B455B6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89637" tIns="89637" rIns="33618" bIns="33618" rtlCol="0" anchor="b" anchorCtr="0"/>
            <a:lstStyle/>
            <a:p>
              <a:pPr algn="ctr" defTabSz="914007">
                <a:defRPr/>
              </a:pPr>
              <a:endParaRPr lang="en-US" sz="784" b="1" ker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Calibri" panose="020F0502020204030204"/>
                <a:ea typeface="Segoe UI" pitchFamily="34" charset="0"/>
                <a:cs typeface="Segoe UI" pitchFamily="34" charset="0"/>
                <a:sym typeface="Segoe UI"/>
              </a:endParaRPr>
            </a:p>
          </p:txBody>
        </p:sp>
        <p:pic>
          <p:nvPicPr>
            <p:cNvPr id="42" name="Picture 2" descr="http://www.freeiconspng.com/uploads/ios-7-logo-png-14.png">
              <a:extLst>
                <a:ext uri="{FF2B5EF4-FFF2-40B4-BE49-F238E27FC236}">
                  <a16:creationId xmlns:a16="http://schemas.microsoft.com/office/drawing/2014/main" id="{90CAAF05-EAA8-25FB-C183-781FB9BBB4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email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24639" y="1707628"/>
              <a:ext cx="498220" cy="3136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3" name="Picture 17">
            <a:extLst>
              <a:ext uri="{FF2B5EF4-FFF2-40B4-BE49-F238E27FC236}">
                <a16:creationId xmlns:a16="http://schemas.microsoft.com/office/drawing/2014/main" id="{8257FBFF-D7DB-7980-09E8-436817CCA1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8790" y="3477992"/>
            <a:ext cx="2772609" cy="589916"/>
          </a:xfrm>
          <a:prstGeom prst="rect">
            <a:avLst/>
          </a:prstGeom>
        </p:spPr>
      </p:pic>
      <p:sp>
        <p:nvSpPr>
          <p:cNvPr id="44" name="Rectangle 18">
            <a:extLst>
              <a:ext uri="{FF2B5EF4-FFF2-40B4-BE49-F238E27FC236}">
                <a16:creationId xmlns:a16="http://schemas.microsoft.com/office/drawing/2014/main" id="{EBC1B010-DDCA-21E6-5173-F44A5D5D1D74}"/>
              </a:ext>
            </a:extLst>
          </p:cNvPr>
          <p:cNvSpPr/>
          <p:nvPr/>
        </p:nvSpPr>
        <p:spPr bwMode="auto">
          <a:xfrm>
            <a:off x="6338933" y="2728322"/>
            <a:ext cx="2406147" cy="529352"/>
          </a:xfrm>
          <a:prstGeom prst="rect">
            <a:avLst/>
          </a:prstGeom>
          <a:solidFill>
            <a:srgbClr val="B455B6"/>
          </a:solidFill>
          <a:ln>
            <a:solidFill>
              <a:srgbClr val="B455B6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67" tIns="146294" rIns="182867" bIns="14629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2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Calibri" panose="020F0502020204030204"/>
                <a:ea typeface="Segoe UI" pitchFamily="34" charset="0"/>
                <a:cs typeface="Segoe UI" pitchFamily="34" charset="0"/>
              </a:rPr>
              <a:t>UISlider</a:t>
            </a: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Calibri" panose="020F0502020204030204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45" name="Group 20">
            <a:extLst>
              <a:ext uri="{FF2B5EF4-FFF2-40B4-BE49-F238E27FC236}">
                <a16:creationId xmlns:a16="http://schemas.microsoft.com/office/drawing/2014/main" id="{0F3A659B-A30B-024F-F897-BEEB84095BE1}"/>
              </a:ext>
            </a:extLst>
          </p:cNvPr>
          <p:cNvGrpSpPr/>
          <p:nvPr/>
        </p:nvGrpSpPr>
        <p:grpSpPr>
          <a:xfrm>
            <a:off x="9786001" y="1832891"/>
            <a:ext cx="787267" cy="787267"/>
            <a:chOff x="11434337" y="2930084"/>
            <a:chExt cx="1574643" cy="1574643"/>
          </a:xfrm>
          <a:solidFill>
            <a:srgbClr val="77D065"/>
          </a:solidFill>
        </p:grpSpPr>
        <p:sp>
          <p:nvSpPr>
            <p:cNvPr id="46" name="Oval 21">
              <a:extLst>
                <a:ext uri="{FF2B5EF4-FFF2-40B4-BE49-F238E27FC236}">
                  <a16:creationId xmlns:a16="http://schemas.microsoft.com/office/drawing/2014/main" id="{899ED548-72CE-4231-DEF1-9D4423C0EAAC}"/>
                </a:ext>
              </a:extLst>
            </p:cNvPr>
            <p:cNvSpPr/>
            <p:nvPr/>
          </p:nvSpPr>
          <p:spPr bwMode="auto">
            <a:xfrm>
              <a:off x="11434337" y="2930084"/>
              <a:ext cx="1574643" cy="1574643"/>
            </a:xfrm>
            <a:prstGeom prst="ellipse">
              <a:avLst/>
            </a:prstGeom>
            <a:grp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89637" tIns="89637" rIns="33618" bIns="33618" rtlCol="0" anchor="b" anchorCtr="0"/>
            <a:lstStyle/>
            <a:p>
              <a:pPr algn="ctr" defTabSz="914007">
                <a:defRPr/>
              </a:pPr>
              <a:endParaRPr lang="en-US" sz="784" b="1" ker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Calibri" panose="020F0502020204030204"/>
                <a:ea typeface="Segoe UI" pitchFamily="34" charset="0"/>
                <a:cs typeface="Segoe UI" pitchFamily="34" charset="0"/>
                <a:sym typeface="Segoe UI"/>
              </a:endParaRPr>
            </a:p>
          </p:txBody>
        </p:sp>
        <p:pic>
          <p:nvPicPr>
            <p:cNvPr id="47" name="Picture 22">
              <a:extLst>
                <a:ext uri="{FF2B5EF4-FFF2-40B4-BE49-F238E27FC236}">
                  <a16:creationId xmlns:a16="http://schemas.microsoft.com/office/drawing/2014/main" id="{9B901F0F-F774-C85F-96A1-7BD1A4B0DB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884585" y="3297434"/>
              <a:ext cx="674145" cy="810875"/>
            </a:xfrm>
            <a:prstGeom prst="rect">
              <a:avLst/>
            </a:prstGeom>
            <a:grpFill/>
          </p:spPr>
        </p:pic>
      </p:grpSp>
      <p:grpSp>
        <p:nvGrpSpPr>
          <p:cNvPr id="48" name="Group 23">
            <a:extLst>
              <a:ext uri="{FF2B5EF4-FFF2-40B4-BE49-F238E27FC236}">
                <a16:creationId xmlns:a16="http://schemas.microsoft.com/office/drawing/2014/main" id="{9CFA5376-9976-3ED3-FED7-D62DF0452088}"/>
              </a:ext>
            </a:extLst>
          </p:cNvPr>
          <p:cNvGrpSpPr/>
          <p:nvPr/>
        </p:nvGrpSpPr>
        <p:grpSpPr>
          <a:xfrm>
            <a:off x="7148373" y="1825625"/>
            <a:ext cx="787267" cy="787267"/>
            <a:chOff x="3567813" y="1467990"/>
            <a:chExt cx="787322" cy="787322"/>
          </a:xfrm>
        </p:grpSpPr>
        <p:sp>
          <p:nvSpPr>
            <p:cNvPr id="49" name="Oval 24">
              <a:extLst>
                <a:ext uri="{FF2B5EF4-FFF2-40B4-BE49-F238E27FC236}">
                  <a16:creationId xmlns:a16="http://schemas.microsoft.com/office/drawing/2014/main" id="{9C4D73AE-2111-CA52-8814-542299B2F5F4}"/>
                </a:ext>
              </a:extLst>
            </p:cNvPr>
            <p:cNvSpPr/>
            <p:nvPr/>
          </p:nvSpPr>
          <p:spPr bwMode="auto">
            <a:xfrm>
              <a:off x="3567813" y="1467990"/>
              <a:ext cx="787322" cy="787322"/>
            </a:xfrm>
            <a:prstGeom prst="ellipse">
              <a:avLst/>
            </a:prstGeom>
            <a:solidFill>
              <a:srgbClr val="B455B6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89637" tIns="89637" rIns="33618" bIns="33618" rtlCol="0" anchor="b" anchorCtr="0"/>
            <a:lstStyle/>
            <a:p>
              <a:pPr algn="ctr" defTabSz="914007">
                <a:defRPr/>
              </a:pPr>
              <a:endParaRPr lang="en-US" sz="784" b="1" ker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Calibri" panose="020F0502020204030204"/>
                <a:ea typeface="Segoe UI" pitchFamily="34" charset="0"/>
                <a:cs typeface="Segoe UI" pitchFamily="34" charset="0"/>
                <a:sym typeface="Segoe UI"/>
              </a:endParaRPr>
            </a:p>
          </p:txBody>
        </p:sp>
        <p:pic>
          <p:nvPicPr>
            <p:cNvPr id="50" name="Picture 2" descr="http://www.freeiconspng.com/uploads/ios-7-logo-png-14.png">
              <a:extLst>
                <a:ext uri="{FF2B5EF4-FFF2-40B4-BE49-F238E27FC236}">
                  <a16:creationId xmlns:a16="http://schemas.microsoft.com/office/drawing/2014/main" id="{E7A6FF44-7E7E-08DF-5E7C-257D0A1008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email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24639" y="1707628"/>
              <a:ext cx="498220" cy="3136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1" name="Connector: Elbow 27">
            <a:extLst>
              <a:ext uri="{FF2B5EF4-FFF2-40B4-BE49-F238E27FC236}">
                <a16:creationId xmlns:a16="http://schemas.microsoft.com/office/drawing/2014/main" id="{A40E6435-50A1-ED09-D6BF-B14D359BC2E3}"/>
              </a:ext>
            </a:extLst>
          </p:cNvPr>
          <p:cNvCxnSpPr>
            <a:cxnSpLocks/>
          </p:cNvCxnSpPr>
          <p:nvPr/>
        </p:nvCxnSpPr>
        <p:spPr>
          <a:xfrm>
            <a:off x="1936515" y="4272118"/>
            <a:ext cx="1212881" cy="1094794"/>
          </a:xfrm>
          <a:prstGeom prst="bentConnector3">
            <a:avLst>
              <a:gd name="adj1" fmla="val -588"/>
            </a:avLst>
          </a:prstGeom>
          <a:ln w="5080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30">
            <a:extLst>
              <a:ext uri="{FF2B5EF4-FFF2-40B4-BE49-F238E27FC236}">
                <a16:creationId xmlns:a16="http://schemas.microsoft.com/office/drawing/2014/main" id="{1F6230A2-4E89-B68A-6976-6A3DEC9E0C18}"/>
              </a:ext>
            </a:extLst>
          </p:cNvPr>
          <p:cNvCxnSpPr>
            <a:cxnSpLocks/>
          </p:cNvCxnSpPr>
          <p:nvPr/>
        </p:nvCxnSpPr>
        <p:spPr>
          <a:xfrm rot="10800000" flipV="1">
            <a:off x="3149395" y="4272114"/>
            <a:ext cx="1434555" cy="1094797"/>
          </a:xfrm>
          <a:prstGeom prst="bentConnector3">
            <a:avLst>
              <a:gd name="adj1" fmla="val 520"/>
            </a:avLst>
          </a:prstGeom>
          <a:ln w="5080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44">
            <a:extLst>
              <a:ext uri="{FF2B5EF4-FFF2-40B4-BE49-F238E27FC236}">
                <a16:creationId xmlns:a16="http://schemas.microsoft.com/office/drawing/2014/main" id="{487D8C1F-B2E4-2116-6329-A0BDDFDB12D0}"/>
              </a:ext>
            </a:extLst>
          </p:cNvPr>
          <p:cNvCxnSpPr/>
          <p:nvPr/>
        </p:nvCxnSpPr>
        <p:spPr>
          <a:xfrm>
            <a:off x="3259892" y="5366911"/>
            <a:ext cx="0" cy="421076"/>
          </a:xfrm>
          <a:prstGeom prst="straightConnector1">
            <a:avLst/>
          </a:prstGeom>
          <a:ln w="5080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46">
            <a:extLst>
              <a:ext uri="{FF2B5EF4-FFF2-40B4-BE49-F238E27FC236}">
                <a16:creationId xmlns:a16="http://schemas.microsoft.com/office/drawing/2014/main" id="{44005B83-6039-5F56-282B-F7F13E0081DC}"/>
              </a:ext>
            </a:extLst>
          </p:cNvPr>
          <p:cNvSpPr/>
          <p:nvPr/>
        </p:nvSpPr>
        <p:spPr bwMode="auto">
          <a:xfrm>
            <a:off x="2009278" y="5945548"/>
            <a:ext cx="2406147" cy="529352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67" tIns="146294" rIns="182867" bIns="14629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2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Calibri" panose="020F0502020204030204"/>
                <a:ea typeface="Segoe UI" pitchFamily="34" charset="0"/>
                <a:cs typeface="Segoe UI" pitchFamily="34" charset="0"/>
              </a:rPr>
              <a:t>ActivityIndicator</a:t>
            </a: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Calibri" panose="020F0502020204030204"/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55" name="Connector: Elbow 47">
            <a:extLst>
              <a:ext uri="{FF2B5EF4-FFF2-40B4-BE49-F238E27FC236}">
                <a16:creationId xmlns:a16="http://schemas.microsoft.com/office/drawing/2014/main" id="{F2946B06-15CB-308C-B66C-B52333D70046}"/>
              </a:ext>
            </a:extLst>
          </p:cNvPr>
          <p:cNvCxnSpPr>
            <a:cxnSpLocks/>
          </p:cNvCxnSpPr>
          <p:nvPr/>
        </p:nvCxnSpPr>
        <p:spPr>
          <a:xfrm>
            <a:off x="7532199" y="4272115"/>
            <a:ext cx="1212881" cy="1094794"/>
          </a:xfrm>
          <a:prstGeom prst="bentConnector3">
            <a:avLst>
              <a:gd name="adj1" fmla="val -588"/>
            </a:avLst>
          </a:prstGeom>
          <a:ln w="5080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48">
            <a:extLst>
              <a:ext uri="{FF2B5EF4-FFF2-40B4-BE49-F238E27FC236}">
                <a16:creationId xmlns:a16="http://schemas.microsoft.com/office/drawing/2014/main" id="{F132F091-6B0C-2093-5ABD-A34C09FD46DA}"/>
              </a:ext>
            </a:extLst>
          </p:cNvPr>
          <p:cNvCxnSpPr>
            <a:cxnSpLocks/>
          </p:cNvCxnSpPr>
          <p:nvPr/>
        </p:nvCxnSpPr>
        <p:spPr>
          <a:xfrm rot="10800000" flipV="1">
            <a:off x="8745079" y="4272111"/>
            <a:ext cx="1434555" cy="1094797"/>
          </a:xfrm>
          <a:prstGeom prst="bentConnector3">
            <a:avLst>
              <a:gd name="adj1" fmla="val 520"/>
            </a:avLst>
          </a:prstGeom>
          <a:ln w="5080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49">
            <a:extLst>
              <a:ext uri="{FF2B5EF4-FFF2-40B4-BE49-F238E27FC236}">
                <a16:creationId xmlns:a16="http://schemas.microsoft.com/office/drawing/2014/main" id="{B18A7DF9-4641-0024-4B27-551007155AF0}"/>
              </a:ext>
            </a:extLst>
          </p:cNvPr>
          <p:cNvCxnSpPr/>
          <p:nvPr/>
        </p:nvCxnSpPr>
        <p:spPr>
          <a:xfrm>
            <a:off x="8855577" y="5366908"/>
            <a:ext cx="0" cy="421076"/>
          </a:xfrm>
          <a:prstGeom prst="straightConnector1">
            <a:avLst/>
          </a:prstGeom>
          <a:ln w="5080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1">
            <a:extLst>
              <a:ext uri="{FF2B5EF4-FFF2-40B4-BE49-F238E27FC236}">
                <a16:creationId xmlns:a16="http://schemas.microsoft.com/office/drawing/2014/main" id="{265E58AD-FBEB-64E1-E053-B240A85F225D}"/>
              </a:ext>
            </a:extLst>
          </p:cNvPr>
          <p:cNvSpPr/>
          <p:nvPr/>
        </p:nvSpPr>
        <p:spPr bwMode="auto">
          <a:xfrm>
            <a:off x="7604961" y="5945545"/>
            <a:ext cx="2406147" cy="529352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67" tIns="146294" rIns="182867" bIns="14629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2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Calibri" panose="020F0502020204030204"/>
                <a:ea typeface="Segoe UI" pitchFamily="34" charset="0"/>
                <a:cs typeface="Segoe UI" pitchFamily="34" charset="0"/>
              </a:rPr>
              <a:t>Slider</a:t>
            </a:r>
          </a:p>
        </p:txBody>
      </p:sp>
      <p:sp>
        <p:nvSpPr>
          <p:cNvPr id="59" name="Rectangle 19">
            <a:extLst>
              <a:ext uri="{FF2B5EF4-FFF2-40B4-BE49-F238E27FC236}">
                <a16:creationId xmlns:a16="http://schemas.microsoft.com/office/drawing/2014/main" id="{E17BCF8B-89A2-42D2-9036-527C5E0B1AA3}"/>
              </a:ext>
            </a:extLst>
          </p:cNvPr>
          <p:cNvSpPr/>
          <p:nvPr/>
        </p:nvSpPr>
        <p:spPr bwMode="auto">
          <a:xfrm>
            <a:off x="9032020" y="2735922"/>
            <a:ext cx="2406147" cy="529352"/>
          </a:xfrm>
          <a:prstGeom prst="rect">
            <a:avLst/>
          </a:prstGeom>
          <a:solidFill>
            <a:srgbClr val="77D06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67" tIns="146294" rIns="182867" bIns="14629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2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Calibri" panose="020F0502020204030204"/>
                <a:ea typeface="Segoe UI" pitchFamily="34" charset="0"/>
                <a:cs typeface="Segoe UI" pitchFamily="34" charset="0"/>
              </a:rPr>
              <a:t>SeekBar</a:t>
            </a:r>
            <a:endParaRPr lang="en-US" sz="20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Calibri" panose="020F0502020204030204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943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44" grpId="0" animBg="1"/>
      <p:bldP spid="54" grpId="0" animBg="1"/>
      <p:bldP spid="58" grpId="0" animBg="1"/>
      <p:bldP spid="5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025632-2F89-11F5-2280-14928B483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Controles</a:t>
            </a:r>
          </a:p>
        </p:txBody>
      </p:sp>
      <p:pic>
        <p:nvPicPr>
          <p:cNvPr id="4" name="Imagen 7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40C36CA1-9B06-E818-13A9-DAFB335F85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95343" y="746283"/>
            <a:ext cx="10201314" cy="574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097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C9E90A-5EFE-A104-4CA2-99350CF52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Un lenguaje – Un proyecto</a:t>
            </a:r>
          </a:p>
        </p:txBody>
      </p:sp>
      <p:grpSp>
        <p:nvGrpSpPr>
          <p:cNvPr id="5" name="Group 1">
            <a:extLst>
              <a:ext uri="{FF2B5EF4-FFF2-40B4-BE49-F238E27FC236}">
                <a16:creationId xmlns:a16="http://schemas.microsoft.com/office/drawing/2014/main" id="{1E75FFB8-0085-348D-56B3-ED63BBCFA564}"/>
              </a:ext>
            </a:extLst>
          </p:cNvPr>
          <p:cNvGrpSpPr/>
          <p:nvPr/>
        </p:nvGrpSpPr>
        <p:grpSpPr>
          <a:xfrm>
            <a:off x="1293939" y="1690688"/>
            <a:ext cx="9604121" cy="4447222"/>
            <a:chOff x="2129189" y="1858210"/>
            <a:chExt cx="8692642" cy="3782693"/>
          </a:xfrm>
        </p:grpSpPr>
        <p:sp>
          <p:nvSpPr>
            <p:cNvPr id="6" name="Rectangle 20">
              <a:extLst>
                <a:ext uri="{FF2B5EF4-FFF2-40B4-BE49-F238E27FC236}">
                  <a16:creationId xmlns:a16="http://schemas.microsoft.com/office/drawing/2014/main" id="{F27D1AE3-5D35-8424-C6F1-D6938972239D}"/>
                </a:ext>
              </a:extLst>
            </p:cNvPr>
            <p:cNvSpPr/>
            <p:nvPr/>
          </p:nvSpPr>
          <p:spPr bwMode="auto">
            <a:xfrm>
              <a:off x="2159267" y="2773191"/>
              <a:ext cx="2112951" cy="591366"/>
            </a:xfrm>
            <a:prstGeom prst="rect">
              <a:avLst/>
            </a:prstGeom>
            <a:solidFill>
              <a:srgbClr val="B4A0FF"/>
            </a:soli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lIns="89637" tIns="89637" rIns="33618" bIns="33618" rtlCol="0" anchor="b" anchorCtr="0"/>
            <a:lstStyle/>
            <a:p>
              <a:pPr marL="0" marR="0" lvl="0" indent="0" algn="ctr" defTabSz="91400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84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Calibri" panose="020F0502020204030204"/>
                  <a:ea typeface="Segoe UI" pitchFamily="34" charset="0"/>
                  <a:cs typeface="Segoe UI" pitchFamily="34" charset="0"/>
                  <a:sym typeface="Segoe UI"/>
                </a:rPr>
                <a:t> </a:t>
              </a:r>
            </a:p>
          </p:txBody>
        </p:sp>
        <p:sp>
          <p:nvSpPr>
            <p:cNvPr id="7" name="Rectangle 21">
              <a:extLst>
                <a:ext uri="{FF2B5EF4-FFF2-40B4-BE49-F238E27FC236}">
                  <a16:creationId xmlns:a16="http://schemas.microsoft.com/office/drawing/2014/main" id="{6A1B5C83-2918-01B9-28AD-4FEE04665AEB}"/>
                </a:ext>
              </a:extLst>
            </p:cNvPr>
            <p:cNvSpPr/>
            <p:nvPr/>
          </p:nvSpPr>
          <p:spPr bwMode="auto">
            <a:xfrm>
              <a:off x="6521106" y="2781634"/>
              <a:ext cx="2117505" cy="591366"/>
            </a:xfrm>
            <a:prstGeom prst="rect">
              <a:avLst/>
            </a:prstGeom>
            <a:solidFill>
              <a:srgbClr val="FF8C00">
                <a:lumMod val="60000"/>
                <a:lumOff val="40000"/>
              </a:srgbClr>
            </a:soli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lIns="89637" tIns="89637" rIns="33618" bIns="33618" rtlCol="0" anchor="b" anchorCtr="0"/>
            <a:lstStyle/>
            <a:p>
              <a:pPr marL="0" marR="0" lvl="0" indent="0" algn="ctr" defTabSz="91400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84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Calibri" panose="020F0502020204030204"/>
                  <a:ea typeface="Segoe UI" pitchFamily="34" charset="0"/>
                  <a:cs typeface="Segoe UI" pitchFamily="34" charset="0"/>
                  <a:sym typeface="Segoe UI"/>
                </a:rPr>
                <a:t> </a:t>
              </a:r>
            </a:p>
          </p:txBody>
        </p:sp>
        <p:sp>
          <p:nvSpPr>
            <p:cNvPr id="8" name="Rectangle 22">
              <a:extLst>
                <a:ext uri="{FF2B5EF4-FFF2-40B4-BE49-F238E27FC236}">
                  <a16:creationId xmlns:a16="http://schemas.microsoft.com/office/drawing/2014/main" id="{5D8DF8A4-2CCE-5864-ECE0-CF2598D49F0C}"/>
                </a:ext>
              </a:extLst>
            </p:cNvPr>
            <p:cNvSpPr/>
            <p:nvPr/>
          </p:nvSpPr>
          <p:spPr bwMode="auto">
            <a:xfrm>
              <a:off x="4328616" y="2773888"/>
              <a:ext cx="2108483" cy="582732"/>
            </a:xfrm>
            <a:prstGeom prst="rect">
              <a:avLst/>
            </a:prstGeom>
            <a:solidFill>
              <a:srgbClr val="77D065"/>
            </a:soli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lIns="89637" tIns="89637" rIns="33618" bIns="33618" rtlCol="0" anchor="b" anchorCtr="0"/>
            <a:lstStyle/>
            <a:p>
              <a:pPr marL="0" marR="0" lvl="0" indent="0" algn="ctr" defTabSz="91400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84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Calibri" panose="020F0502020204030204"/>
                  <a:ea typeface="Segoe UI" pitchFamily="34" charset="0"/>
                  <a:cs typeface="Segoe UI" pitchFamily="34" charset="0"/>
                  <a:sym typeface="Segoe UI"/>
                </a:rPr>
                <a:t> </a:t>
              </a:r>
            </a:p>
          </p:txBody>
        </p:sp>
        <p:grpSp>
          <p:nvGrpSpPr>
            <p:cNvPr id="9" name="Group 26">
              <a:extLst>
                <a:ext uri="{FF2B5EF4-FFF2-40B4-BE49-F238E27FC236}">
                  <a16:creationId xmlns:a16="http://schemas.microsoft.com/office/drawing/2014/main" id="{9268DE49-B865-78F5-B331-C4B92947AFD3}"/>
                </a:ext>
              </a:extLst>
            </p:cNvPr>
            <p:cNvGrpSpPr/>
            <p:nvPr/>
          </p:nvGrpSpPr>
          <p:grpSpPr>
            <a:xfrm>
              <a:off x="5008214" y="1858210"/>
              <a:ext cx="787267" cy="787267"/>
              <a:chOff x="11434337" y="2930084"/>
              <a:chExt cx="1574643" cy="1574643"/>
            </a:xfrm>
            <a:solidFill>
              <a:srgbClr val="77D065"/>
            </a:solidFill>
          </p:grpSpPr>
          <p:sp>
            <p:nvSpPr>
              <p:cNvPr id="29" name="Oval 27">
                <a:extLst>
                  <a:ext uri="{FF2B5EF4-FFF2-40B4-BE49-F238E27FC236}">
                    <a16:creationId xmlns:a16="http://schemas.microsoft.com/office/drawing/2014/main" id="{07F858E7-55CA-A30F-FA1B-5C43B8787BBD}"/>
                  </a:ext>
                </a:extLst>
              </p:cNvPr>
              <p:cNvSpPr/>
              <p:nvPr/>
            </p:nvSpPr>
            <p:spPr bwMode="auto">
              <a:xfrm>
                <a:off x="11434337" y="2930084"/>
                <a:ext cx="1574643" cy="1574643"/>
              </a:xfrm>
              <a:prstGeom prst="ellipse">
                <a:avLst/>
              </a:prstGeom>
              <a:grpFill/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lIns="89637" tIns="89637" rIns="33618" bIns="33618" rtlCol="0" anchor="b" anchorCtr="0"/>
              <a:lstStyle/>
              <a:p>
                <a:pPr marL="0" marR="0" lvl="0" indent="0" algn="ctr" defTabSz="91400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784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Calibri" panose="020F0502020204030204"/>
                  <a:ea typeface="Segoe UI" pitchFamily="34" charset="0"/>
                  <a:cs typeface="Segoe UI" pitchFamily="34" charset="0"/>
                  <a:sym typeface="Segoe UI"/>
                </a:endParaRPr>
              </a:p>
            </p:txBody>
          </p:sp>
          <p:pic>
            <p:nvPicPr>
              <p:cNvPr id="30" name="Picture 28">
                <a:extLst>
                  <a:ext uri="{FF2B5EF4-FFF2-40B4-BE49-F238E27FC236}">
                    <a16:creationId xmlns:a16="http://schemas.microsoft.com/office/drawing/2014/main" id="{CACD7F6D-16CD-9D01-23D2-52A05AAD3A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1884585" y="3297434"/>
                <a:ext cx="674145" cy="810875"/>
              </a:xfrm>
              <a:prstGeom prst="rect">
                <a:avLst/>
              </a:prstGeom>
              <a:grpFill/>
            </p:spPr>
          </p:pic>
        </p:grpSp>
        <p:grpSp>
          <p:nvGrpSpPr>
            <p:cNvPr id="10" name="Group 29">
              <a:extLst>
                <a:ext uri="{FF2B5EF4-FFF2-40B4-BE49-F238E27FC236}">
                  <a16:creationId xmlns:a16="http://schemas.microsoft.com/office/drawing/2014/main" id="{776811BC-2595-72EB-CE59-B5ABED1DEA18}"/>
                </a:ext>
              </a:extLst>
            </p:cNvPr>
            <p:cNvGrpSpPr/>
            <p:nvPr/>
          </p:nvGrpSpPr>
          <p:grpSpPr>
            <a:xfrm>
              <a:off x="2810579" y="1869798"/>
              <a:ext cx="787267" cy="787267"/>
              <a:chOff x="3567813" y="1467990"/>
              <a:chExt cx="787322" cy="787322"/>
            </a:xfrm>
            <a:solidFill>
              <a:srgbClr val="B4A0FF"/>
            </a:solidFill>
          </p:grpSpPr>
          <p:sp>
            <p:nvSpPr>
              <p:cNvPr id="27" name="Oval 30">
                <a:extLst>
                  <a:ext uri="{FF2B5EF4-FFF2-40B4-BE49-F238E27FC236}">
                    <a16:creationId xmlns:a16="http://schemas.microsoft.com/office/drawing/2014/main" id="{9EB99664-F4FA-5FFD-DC5D-1B18493E90AB}"/>
                  </a:ext>
                </a:extLst>
              </p:cNvPr>
              <p:cNvSpPr/>
              <p:nvPr/>
            </p:nvSpPr>
            <p:spPr bwMode="auto">
              <a:xfrm>
                <a:off x="3567813" y="1467990"/>
                <a:ext cx="787322" cy="787322"/>
              </a:xfrm>
              <a:prstGeom prst="ellipse">
                <a:avLst/>
              </a:prstGeom>
              <a:grpFill/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lIns="89637" tIns="89637" rIns="33618" bIns="33618" rtlCol="0" anchor="b" anchorCtr="0"/>
              <a:lstStyle/>
              <a:p>
                <a:pPr marL="0" marR="0" lvl="0" indent="0" algn="ctr" defTabSz="91400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784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Calibri" panose="020F0502020204030204"/>
                  <a:ea typeface="Segoe UI" pitchFamily="34" charset="0"/>
                  <a:cs typeface="Segoe UI" pitchFamily="34" charset="0"/>
                  <a:sym typeface="Segoe UI"/>
                </a:endParaRPr>
              </a:p>
            </p:txBody>
          </p:sp>
          <p:pic>
            <p:nvPicPr>
              <p:cNvPr id="28" name="Picture 2" descr="http://www.freeiconspng.com/uploads/ios-7-logo-png-14.png">
                <a:extLst>
                  <a:ext uri="{FF2B5EF4-FFF2-40B4-BE49-F238E27FC236}">
                    <a16:creationId xmlns:a16="http://schemas.microsoft.com/office/drawing/2014/main" id="{8F22968D-417B-F475-97A6-839C603D51F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email">
                <a:lum bright="70000" contrast="-70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24639" y="1707628"/>
                <a:ext cx="498220" cy="313622"/>
              </a:xfrm>
              <a:prstGeom prst="rect">
                <a:avLst/>
              </a:prstGeom>
              <a:grpFill/>
            </p:spPr>
          </p:pic>
        </p:grpSp>
        <p:sp>
          <p:nvSpPr>
            <p:cNvPr id="11" name="TextBox 32">
              <a:extLst>
                <a:ext uri="{FF2B5EF4-FFF2-40B4-BE49-F238E27FC236}">
                  <a16:creationId xmlns:a16="http://schemas.microsoft.com/office/drawing/2014/main" id="{1E881942-B6F9-E98F-D394-AEB7C7A20FFE}"/>
                </a:ext>
              </a:extLst>
            </p:cNvPr>
            <p:cNvSpPr txBox="1"/>
            <p:nvPr/>
          </p:nvSpPr>
          <p:spPr>
            <a:xfrm>
              <a:off x="7186225" y="1873961"/>
              <a:ext cx="787267" cy="787267"/>
            </a:xfrm>
            <a:prstGeom prst="ellipse">
              <a:avLst/>
            </a:prstGeom>
            <a:solidFill>
              <a:srgbClr val="FF8C00">
                <a:lumMod val="60000"/>
                <a:lumOff val="40000"/>
              </a:srgbClr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358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</a:endParaRPr>
            </a:p>
          </p:txBody>
        </p:sp>
        <p:sp>
          <p:nvSpPr>
            <p:cNvPr id="12" name="TextBox 33">
              <a:extLst>
                <a:ext uri="{FF2B5EF4-FFF2-40B4-BE49-F238E27FC236}">
                  <a16:creationId xmlns:a16="http://schemas.microsoft.com/office/drawing/2014/main" id="{CDBC7B86-50AA-0A30-599A-76E26AED5A92}"/>
                </a:ext>
              </a:extLst>
            </p:cNvPr>
            <p:cNvSpPr txBox="1"/>
            <p:nvPr/>
          </p:nvSpPr>
          <p:spPr>
            <a:xfrm>
              <a:off x="2833612" y="2797088"/>
              <a:ext cx="741202" cy="627844"/>
            </a:xfrm>
            <a:prstGeom prst="rect">
              <a:avLst/>
            </a:prstGeom>
            <a:noFill/>
          </p:spPr>
          <p:txBody>
            <a:bodyPr wrap="none" lIns="182867" tIns="146294" rIns="182867" bIns="146294" rtlCol="0">
              <a:spAutoFit/>
            </a:bodyPr>
            <a:lstStyle/>
            <a:p>
              <a:pPr marL="0" marR="0" lvl="0" indent="0" defTabSz="914358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C#</a:t>
              </a:r>
            </a:p>
          </p:txBody>
        </p:sp>
        <p:sp>
          <p:nvSpPr>
            <p:cNvPr id="13" name="TextBox 34">
              <a:extLst>
                <a:ext uri="{FF2B5EF4-FFF2-40B4-BE49-F238E27FC236}">
                  <a16:creationId xmlns:a16="http://schemas.microsoft.com/office/drawing/2014/main" id="{0FFBCA71-AB4C-AD06-F1A9-4FDE2C313D75}"/>
                </a:ext>
              </a:extLst>
            </p:cNvPr>
            <p:cNvSpPr txBox="1"/>
            <p:nvPr/>
          </p:nvSpPr>
          <p:spPr>
            <a:xfrm>
              <a:off x="5054305" y="2780929"/>
              <a:ext cx="741202" cy="627844"/>
            </a:xfrm>
            <a:prstGeom prst="rect">
              <a:avLst/>
            </a:prstGeom>
            <a:noFill/>
          </p:spPr>
          <p:txBody>
            <a:bodyPr wrap="none" lIns="182867" tIns="146294" rIns="182867" bIns="146294" rtlCol="0">
              <a:spAutoFit/>
            </a:bodyPr>
            <a:lstStyle/>
            <a:p>
              <a:pPr marL="0" marR="0" lvl="0" indent="0" defTabSz="914358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C#</a:t>
              </a:r>
            </a:p>
          </p:txBody>
        </p:sp>
        <p:grpSp>
          <p:nvGrpSpPr>
            <p:cNvPr id="14" name="Group 23">
              <a:extLst>
                <a:ext uri="{FF2B5EF4-FFF2-40B4-BE49-F238E27FC236}">
                  <a16:creationId xmlns:a16="http://schemas.microsoft.com/office/drawing/2014/main" id="{79EB02FB-4A28-BF2A-BAE5-4C292EB3166C}"/>
                </a:ext>
              </a:extLst>
            </p:cNvPr>
            <p:cNvGrpSpPr/>
            <p:nvPr/>
          </p:nvGrpSpPr>
          <p:grpSpPr>
            <a:xfrm>
              <a:off x="2129189" y="3480226"/>
              <a:ext cx="8692642" cy="2160677"/>
              <a:chOff x="2892371" y="3279586"/>
              <a:chExt cx="6448375" cy="1705020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94E8D2B-98B1-7432-B6C3-0E51F0D75D71}"/>
                  </a:ext>
                </a:extLst>
              </p:cNvPr>
              <p:cNvSpPr/>
              <p:nvPr/>
            </p:nvSpPr>
            <p:spPr bwMode="auto">
              <a:xfrm>
                <a:off x="2892372" y="3279586"/>
                <a:ext cx="6410140" cy="1705020"/>
              </a:xfrm>
              <a:prstGeom prst="rect">
                <a:avLst/>
              </a:prstGeom>
              <a:solidFill>
                <a:srgbClr val="3498DB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lIns="89637" tIns="89637" rIns="33618" bIns="33618" rtlCol="0" anchor="b" anchorCtr="0"/>
              <a:lstStyle/>
              <a:p>
                <a:pPr marL="0" marR="0" lvl="0" indent="0" algn="ctr" defTabSz="91400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84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3498DB"/>
                    </a:solidFill>
                    <a:effectLst/>
                    <a:uLnTx/>
                    <a:uFillTx/>
                    <a:latin typeface="Calibri" panose="020F0502020204030204"/>
                    <a:ea typeface="Segoe UI" pitchFamily="34" charset="0"/>
                    <a:cs typeface="Segoe UI" pitchFamily="34" charset="0"/>
                    <a:sym typeface="Segoe UI"/>
                  </a:rPr>
                  <a:t> 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A8211B7-C8DE-67BE-B1E4-EDD236AD52A7}"/>
                  </a:ext>
                </a:extLst>
              </p:cNvPr>
              <p:cNvSpPr txBox="1"/>
              <p:nvPr/>
            </p:nvSpPr>
            <p:spPr>
              <a:xfrm>
                <a:off x="2892371" y="3551162"/>
                <a:ext cx="6448375" cy="957169"/>
              </a:xfrm>
              <a:prstGeom prst="rect">
                <a:avLst/>
              </a:prstGeom>
              <a:noFill/>
            </p:spPr>
            <p:txBody>
              <a:bodyPr wrap="square" lIns="179273" tIns="143418" rIns="179273" bIns="143418" rtlCol="0">
                <a:spAutoFit/>
              </a:bodyPr>
              <a:lstStyle/>
              <a:p>
                <a:pPr marL="0" marR="0" lvl="0" indent="0" algn="ctr" defTabSz="91407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 Semibold" panose="020B0702040204020203" pitchFamily="34" charset="0"/>
                    <a:sym typeface="Segoe UI"/>
                  </a:rPr>
                  <a:t>Shared Code</a:t>
                </a:r>
              </a:p>
              <a:p>
                <a:pPr marL="0" marR="0" lvl="0" indent="0" algn="ctr" defTabSz="91407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 Semibold" panose="020B0702040204020203" pitchFamily="34" charset="0"/>
                    <a:sym typeface="Segoe UI"/>
                  </a:rPr>
                  <a:t>UI, Resources, Platform Features, &amp; Business Logic </a:t>
                </a:r>
              </a:p>
            </p:txBody>
          </p:sp>
        </p:grpSp>
        <p:sp>
          <p:nvSpPr>
            <p:cNvPr id="15" name="TextBox 35">
              <a:extLst>
                <a:ext uri="{FF2B5EF4-FFF2-40B4-BE49-F238E27FC236}">
                  <a16:creationId xmlns:a16="http://schemas.microsoft.com/office/drawing/2014/main" id="{BA4C66A2-2791-F64D-775A-B815E6F6A5E5}"/>
                </a:ext>
              </a:extLst>
            </p:cNvPr>
            <p:cNvSpPr txBox="1"/>
            <p:nvPr/>
          </p:nvSpPr>
          <p:spPr>
            <a:xfrm>
              <a:off x="7251940" y="2797088"/>
              <a:ext cx="741202" cy="627844"/>
            </a:xfrm>
            <a:prstGeom prst="rect">
              <a:avLst/>
            </a:prstGeom>
            <a:noFill/>
          </p:spPr>
          <p:txBody>
            <a:bodyPr wrap="none" lIns="182867" tIns="146294" rIns="182867" bIns="146294" rtlCol="0">
              <a:spAutoFit/>
            </a:bodyPr>
            <a:lstStyle/>
            <a:p>
              <a:pPr marL="0" marR="0" lvl="0" indent="0" defTabSz="914358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C#</a:t>
              </a:r>
            </a:p>
          </p:txBody>
        </p:sp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CB1A7525-21D6-9C13-6BD4-1106CCC7D4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duotone>
                <a:srgbClr val="00BCF2">
                  <a:shade val="45000"/>
                  <a:satMod val="135000"/>
                </a:srgb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29675" y="2019749"/>
              <a:ext cx="504982" cy="5049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Rectangle 40">
              <a:extLst>
                <a:ext uri="{FF2B5EF4-FFF2-40B4-BE49-F238E27FC236}">
                  <a16:creationId xmlns:a16="http://schemas.microsoft.com/office/drawing/2014/main" id="{C376D5C8-7EFD-1560-5E14-17DA503971E0}"/>
                </a:ext>
              </a:extLst>
            </p:cNvPr>
            <p:cNvSpPr/>
            <p:nvPr/>
          </p:nvSpPr>
          <p:spPr bwMode="auto">
            <a:xfrm>
              <a:off x="8704325" y="2773888"/>
              <a:ext cx="2065965" cy="591366"/>
            </a:xfrm>
            <a:prstGeom prst="rect">
              <a:avLst/>
            </a:prstGeom>
            <a:solidFill>
              <a:srgbClr val="00188F">
                <a:lumMod val="60000"/>
                <a:lumOff val="40000"/>
              </a:srgbClr>
            </a:soli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lIns="89637" tIns="89637" rIns="33618" bIns="33618" rtlCol="0" anchor="b" anchorCtr="0"/>
            <a:lstStyle/>
            <a:p>
              <a:pPr marL="0" marR="0" lvl="0" indent="0" algn="ctr" defTabSz="91400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84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Calibri" panose="020F0502020204030204"/>
                  <a:ea typeface="Segoe UI" pitchFamily="34" charset="0"/>
                  <a:cs typeface="Segoe UI" pitchFamily="34" charset="0"/>
                  <a:sym typeface="Segoe UI"/>
                </a:rPr>
                <a:t> </a:t>
              </a:r>
            </a:p>
          </p:txBody>
        </p:sp>
        <p:sp>
          <p:nvSpPr>
            <p:cNvPr id="18" name="TextBox 41">
              <a:extLst>
                <a:ext uri="{FF2B5EF4-FFF2-40B4-BE49-F238E27FC236}">
                  <a16:creationId xmlns:a16="http://schemas.microsoft.com/office/drawing/2014/main" id="{761B5F13-E5C4-8CC8-A49E-427574A4CB18}"/>
                </a:ext>
              </a:extLst>
            </p:cNvPr>
            <p:cNvSpPr txBox="1"/>
            <p:nvPr/>
          </p:nvSpPr>
          <p:spPr>
            <a:xfrm>
              <a:off x="9369445" y="1885966"/>
              <a:ext cx="787267" cy="787267"/>
            </a:xfrm>
            <a:prstGeom prst="ellipse">
              <a:avLst/>
            </a:prstGeom>
            <a:solidFill>
              <a:srgbClr val="00188F">
                <a:lumMod val="60000"/>
                <a:lumOff val="40000"/>
              </a:srgbClr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358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</a:endParaRPr>
            </a:p>
          </p:txBody>
        </p:sp>
        <p:sp>
          <p:nvSpPr>
            <p:cNvPr id="19" name="TextBox 42">
              <a:extLst>
                <a:ext uri="{FF2B5EF4-FFF2-40B4-BE49-F238E27FC236}">
                  <a16:creationId xmlns:a16="http://schemas.microsoft.com/office/drawing/2014/main" id="{388934D2-4523-BA16-470D-C6EC24ED907F}"/>
                </a:ext>
              </a:extLst>
            </p:cNvPr>
            <p:cNvSpPr txBox="1"/>
            <p:nvPr/>
          </p:nvSpPr>
          <p:spPr>
            <a:xfrm>
              <a:off x="9435160" y="2809093"/>
              <a:ext cx="741202" cy="627844"/>
            </a:xfrm>
            <a:prstGeom prst="rect">
              <a:avLst/>
            </a:prstGeom>
            <a:noFill/>
          </p:spPr>
          <p:txBody>
            <a:bodyPr wrap="none" lIns="182867" tIns="146294" rIns="182867" bIns="146294" rtlCol="0">
              <a:spAutoFit/>
            </a:bodyPr>
            <a:lstStyle/>
            <a:p>
              <a:pPr marL="0" marR="0" lvl="0" indent="0" defTabSz="914358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C#</a:t>
              </a:r>
            </a:p>
          </p:txBody>
        </p:sp>
        <p:grpSp>
          <p:nvGrpSpPr>
            <p:cNvPr id="20" name="Group 42">
              <a:extLst>
                <a:ext uri="{FF2B5EF4-FFF2-40B4-BE49-F238E27FC236}">
                  <a16:creationId xmlns:a16="http://schemas.microsoft.com/office/drawing/2014/main" id="{1C3FCB51-C088-FDAE-1997-80321D309DE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561020" y="2083028"/>
              <a:ext cx="389868" cy="404156"/>
              <a:chOff x="3492" y="1769"/>
              <a:chExt cx="854" cy="864"/>
            </a:xfrm>
            <a:solidFill>
              <a:srgbClr val="FFFFFF"/>
            </a:solidFill>
          </p:grpSpPr>
          <p:sp>
            <p:nvSpPr>
              <p:cNvPr id="21" name="Freeform 43">
                <a:extLst>
                  <a:ext uri="{FF2B5EF4-FFF2-40B4-BE49-F238E27FC236}">
                    <a16:creationId xmlns:a16="http://schemas.microsoft.com/office/drawing/2014/main" id="{E0CE25AC-4B1B-6372-139C-C49C0FABE4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2" y="1769"/>
                <a:ext cx="474" cy="413"/>
              </a:xfrm>
              <a:custGeom>
                <a:avLst/>
                <a:gdLst>
                  <a:gd name="T0" fmla="*/ 0 w 474"/>
                  <a:gd name="T1" fmla="*/ 413 h 413"/>
                  <a:gd name="T2" fmla="*/ 474 w 474"/>
                  <a:gd name="T3" fmla="*/ 413 h 413"/>
                  <a:gd name="T4" fmla="*/ 474 w 474"/>
                  <a:gd name="T5" fmla="*/ 0 h 413"/>
                  <a:gd name="T6" fmla="*/ 0 w 474"/>
                  <a:gd name="T7" fmla="*/ 69 h 413"/>
                  <a:gd name="T8" fmla="*/ 0 w 474"/>
                  <a:gd name="T9" fmla="*/ 413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4" h="413">
                    <a:moveTo>
                      <a:pt x="0" y="413"/>
                    </a:moveTo>
                    <a:lnTo>
                      <a:pt x="474" y="413"/>
                    </a:lnTo>
                    <a:lnTo>
                      <a:pt x="474" y="0"/>
                    </a:lnTo>
                    <a:lnTo>
                      <a:pt x="0" y="69"/>
                    </a:lnTo>
                    <a:lnTo>
                      <a:pt x="0" y="4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30" tIns="44814" rIns="89630" bIns="4481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22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1333">
                        <a:prstClr val="white"/>
                      </a:gs>
                      <a:gs pos="8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2" name="Freeform 44">
                <a:extLst>
                  <a:ext uri="{FF2B5EF4-FFF2-40B4-BE49-F238E27FC236}">
                    <a16:creationId xmlns:a16="http://schemas.microsoft.com/office/drawing/2014/main" id="{604C576A-3291-F260-35F5-67935254DB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2" y="1844"/>
                <a:ext cx="345" cy="338"/>
              </a:xfrm>
              <a:custGeom>
                <a:avLst/>
                <a:gdLst>
                  <a:gd name="T0" fmla="*/ 345 w 345"/>
                  <a:gd name="T1" fmla="*/ 338 h 338"/>
                  <a:gd name="T2" fmla="*/ 345 w 345"/>
                  <a:gd name="T3" fmla="*/ 0 h 338"/>
                  <a:gd name="T4" fmla="*/ 0 w 345"/>
                  <a:gd name="T5" fmla="*/ 50 h 338"/>
                  <a:gd name="T6" fmla="*/ 0 w 345"/>
                  <a:gd name="T7" fmla="*/ 338 h 338"/>
                  <a:gd name="T8" fmla="*/ 345 w 345"/>
                  <a:gd name="T9" fmla="*/ 338 h 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338">
                    <a:moveTo>
                      <a:pt x="345" y="338"/>
                    </a:moveTo>
                    <a:lnTo>
                      <a:pt x="345" y="0"/>
                    </a:lnTo>
                    <a:lnTo>
                      <a:pt x="0" y="50"/>
                    </a:lnTo>
                    <a:lnTo>
                      <a:pt x="0" y="338"/>
                    </a:lnTo>
                    <a:lnTo>
                      <a:pt x="345" y="3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30" tIns="44814" rIns="89630" bIns="4481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22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1333">
                        <a:prstClr val="white"/>
                      </a:gs>
                      <a:gs pos="8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3" name="Freeform 45">
                <a:extLst>
                  <a:ext uri="{FF2B5EF4-FFF2-40B4-BE49-F238E27FC236}">
                    <a16:creationId xmlns:a16="http://schemas.microsoft.com/office/drawing/2014/main" id="{3607E5DB-4981-ECA6-2BFE-7695EFA02B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2" y="2214"/>
                <a:ext cx="345" cy="345"/>
              </a:xfrm>
              <a:custGeom>
                <a:avLst/>
                <a:gdLst>
                  <a:gd name="T0" fmla="*/ 345 w 345"/>
                  <a:gd name="T1" fmla="*/ 0 h 345"/>
                  <a:gd name="T2" fmla="*/ 0 w 345"/>
                  <a:gd name="T3" fmla="*/ 0 h 345"/>
                  <a:gd name="T4" fmla="*/ 0 w 345"/>
                  <a:gd name="T5" fmla="*/ 294 h 345"/>
                  <a:gd name="T6" fmla="*/ 345 w 345"/>
                  <a:gd name="T7" fmla="*/ 345 h 345"/>
                  <a:gd name="T8" fmla="*/ 345 w 345"/>
                  <a:gd name="T9" fmla="*/ 0 h 3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345">
                    <a:moveTo>
                      <a:pt x="345" y="0"/>
                    </a:moveTo>
                    <a:lnTo>
                      <a:pt x="0" y="0"/>
                    </a:lnTo>
                    <a:lnTo>
                      <a:pt x="0" y="294"/>
                    </a:lnTo>
                    <a:lnTo>
                      <a:pt x="345" y="345"/>
                    </a:lnTo>
                    <a:lnTo>
                      <a:pt x="34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30" tIns="44814" rIns="89630" bIns="4481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22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1333">
                        <a:prstClr val="white"/>
                      </a:gs>
                      <a:gs pos="8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4" name="Freeform 46">
                <a:extLst>
                  <a:ext uri="{FF2B5EF4-FFF2-40B4-BE49-F238E27FC236}">
                    <a16:creationId xmlns:a16="http://schemas.microsoft.com/office/drawing/2014/main" id="{E14F3522-CE22-162F-A21A-3734171F4B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2" y="2214"/>
                <a:ext cx="474" cy="419"/>
              </a:xfrm>
              <a:custGeom>
                <a:avLst/>
                <a:gdLst>
                  <a:gd name="T0" fmla="*/ 0 w 474"/>
                  <a:gd name="T1" fmla="*/ 0 h 419"/>
                  <a:gd name="T2" fmla="*/ 0 w 474"/>
                  <a:gd name="T3" fmla="*/ 349 h 419"/>
                  <a:gd name="T4" fmla="*/ 474 w 474"/>
                  <a:gd name="T5" fmla="*/ 419 h 419"/>
                  <a:gd name="T6" fmla="*/ 474 w 474"/>
                  <a:gd name="T7" fmla="*/ 0 h 419"/>
                  <a:gd name="T8" fmla="*/ 0 w 474"/>
                  <a:gd name="T9" fmla="*/ 0 h 4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4" h="419">
                    <a:moveTo>
                      <a:pt x="0" y="0"/>
                    </a:moveTo>
                    <a:lnTo>
                      <a:pt x="0" y="349"/>
                    </a:lnTo>
                    <a:lnTo>
                      <a:pt x="474" y="419"/>
                    </a:lnTo>
                    <a:lnTo>
                      <a:pt x="474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30" tIns="44814" rIns="89630" bIns="4481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22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1333">
                        <a:prstClr val="white"/>
                      </a:gs>
                      <a:gs pos="8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82210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E23104-2D6F-D0C5-869E-B535FCA5B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MVVM</a:t>
            </a:r>
          </a:p>
        </p:txBody>
      </p:sp>
      <p:pic>
        <p:nvPicPr>
          <p:cNvPr id="4" name="Imagen 7" descr="Imagen que contiene Diagrama">
            <a:extLst>
              <a:ext uri="{FF2B5EF4-FFF2-40B4-BE49-F238E27FC236}">
                <a16:creationId xmlns:a16="http://schemas.microsoft.com/office/drawing/2014/main" id="{64E1AD8D-ED94-DAC3-2E36-7933850084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8473" y="2120026"/>
            <a:ext cx="11055054" cy="330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47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1B517C-E909-D327-C9B7-207461C98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Acceso a la API Nativa de la plataforma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C7CAAB-5E35-D5E7-DE31-DE54FF4CC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GPS</a:t>
            </a:r>
          </a:p>
          <a:p>
            <a:r>
              <a:rPr lang="es-ES" dirty="0"/>
              <a:t>Mapas</a:t>
            </a:r>
          </a:p>
          <a:p>
            <a:r>
              <a:rPr lang="es-ES" dirty="0"/>
              <a:t>Actividad</a:t>
            </a:r>
          </a:p>
          <a:p>
            <a:r>
              <a:rPr lang="es-ES" dirty="0"/>
              <a:t>Brújula</a:t>
            </a:r>
          </a:p>
          <a:p>
            <a:r>
              <a:rPr lang="es-ES" dirty="0"/>
              <a:t>Giroscopio</a:t>
            </a:r>
          </a:p>
          <a:p>
            <a:r>
              <a:rPr lang="es-ES" dirty="0"/>
              <a:t>Text to </a:t>
            </a:r>
            <a:r>
              <a:rPr lang="es-ES" dirty="0" err="1"/>
              <a:t>speech</a:t>
            </a:r>
            <a:endParaRPr lang="es-ES" dirty="0"/>
          </a:p>
          <a:p>
            <a:r>
              <a:rPr lang="es-ES" dirty="0"/>
              <a:t>Email</a:t>
            </a:r>
          </a:p>
          <a:p>
            <a:r>
              <a:rPr lang="es-ES" dirty="0"/>
              <a:t>Batería</a:t>
            </a:r>
          </a:p>
          <a:p>
            <a:r>
              <a:rPr lang="es-ES" dirty="0"/>
              <a:t>Información del dispositivo</a:t>
            </a:r>
          </a:p>
          <a:p>
            <a:r>
              <a:rPr lang="es-ES" dirty="0"/>
              <a:t>Y un largo etc.</a:t>
            </a:r>
          </a:p>
        </p:txBody>
      </p:sp>
    </p:spTree>
    <p:extLst>
      <p:ext uri="{BB962C8B-B14F-4D97-AF65-F5344CB8AC3E}">
        <p14:creationId xmlns:p14="http://schemas.microsoft.com/office/powerpoint/2010/main" val="1638962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4B5DDD-813F-907C-F0E2-EBF638461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Open source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3B66B61-D75E-1D3B-D259-A311B2250F65}"/>
              </a:ext>
            </a:extLst>
          </p:cNvPr>
          <p:cNvSpPr txBox="1"/>
          <p:nvPr/>
        </p:nvSpPr>
        <p:spPr>
          <a:xfrm>
            <a:off x="838200" y="4138940"/>
            <a:ext cx="52472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>
                <a:hlinkClick r:id="rId2"/>
              </a:rPr>
              <a:t>https://github.com/dotnet/maui</a:t>
            </a:r>
            <a:r>
              <a:rPr lang="es-ES" sz="2800" dirty="0"/>
              <a:t> </a:t>
            </a:r>
          </a:p>
        </p:txBody>
      </p:sp>
      <p:pic>
        <p:nvPicPr>
          <p:cNvPr id="5" name="Picture 2" descr=".NET MAUI Weather App on all platforms">
            <a:extLst>
              <a:ext uri="{FF2B5EF4-FFF2-40B4-BE49-F238E27FC236}">
                <a16:creationId xmlns:a16="http://schemas.microsoft.com/office/drawing/2014/main" id="{6C703B0B-5FBA-CA34-0B2D-92E70DB9D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1527" y="1779830"/>
            <a:ext cx="6490473" cy="4060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8268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2F8F49-1EFA-4CB9-37B3-F2543DF2C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XAML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C8F4DB7-5984-868B-BB7E-8BFC22F19C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3937"/>
          <a:stretch/>
        </p:blipFill>
        <p:spPr>
          <a:xfrm>
            <a:off x="2860106" y="1367870"/>
            <a:ext cx="7020427" cy="497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091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5F7E6C-E50D-DFA3-E7E2-F8B459517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Accesibilidad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7CFCBA-A6F8-7A96-1138-8F56C6F3F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17675"/>
          </a:xfrm>
        </p:spPr>
        <p:txBody>
          <a:bodyPr/>
          <a:lstStyle/>
          <a:p>
            <a:r>
              <a:rPr lang="en-US" dirty="0" err="1"/>
              <a:t>SemanticProperties.Description</a:t>
            </a:r>
            <a:r>
              <a:rPr lang="en-US" dirty="0"/>
              <a:t>=“Slide de </a:t>
            </a:r>
            <a:r>
              <a:rPr lang="en-US" dirty="0" err="1"/>
              <a:t>accesibilidad</a:t>
            </a:r>
            <a:r>
              <a:rPr lang="en-US" dirty="0"/>
              <a:t>”</a:t>
            </a:r>
          </a:p>
          <a:p>
            <a:r>
              <a:rPr lang="en-US" dirty="0" err="1"/>
              <a:t>SemanticProperties.Hint</a:t>
            </a:r>
            <a:r>
              <a:rPr lang="en-US" dirty="0"/>
              <a:t>=“</a:t>
            </a:r>
            <a:r>
              <a:rPr lang="en-US" dirty="0" err="1"/>
              <a:t>Accesibilidad</a:t>
            </a:r>
            <a:r>
              <a:rPr lang="en-US" dirty="0"/>
              <a:t>”</a:t>
            </a:r>
          </a:p>
          <a:p>
            <a:r>
              <a:rPr lang="en-US" dirty="0" err="1"/>
              <a:t>SemanticProperties.HeadingLevel</a:t>
            </a:r>
            <a:r>
              <a:rPr lang="en-US" dirty="0"/>
              <a:t>=“Level1”</a:t>
            </a: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4" name="Imagen 6" descr="Texto&#10;&#10;Descripción generada automáticamente">
            <a:extLst>
              <a:ext uri="{FF2B5EF4-FFF2-40B4-BE49-F238E27FC236}">
                <a16:creationId xmlns:a16="http://schemas.microsoft.com/office/drawing/2014/main" id="{EF9A15D2-124A-0FAA-9089-E7C49F760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57" y="3543300"/>
            <a:ext cx="10892486" cy="196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680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A2CE32-3BD2-83E7-702E-BB87C4E8B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Otras ventajas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860477-7354-7324-9955-96679CD14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705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Documentación</a:t>
            </a:r>
          </a:p>
          <a:p>
            <a:endParaRPr lang="es-ES" dirty="0"/>
          </a:p>
          <a:p>
            <a:r>
              <a:rPr lang="es-ES" dirty="0"/>
              <a:t>Visual Studio 2022 / VSCode</a:t>
            </a:r>
          </a:p>
          <a:p>
            <a:endParaRPr lang="es-ES" dirty="0"/>
          </a:p>
          <a:p>
            <a:r>
              <a:rPr lang="es-ES" dirty="0" err="1"/>
              <a:t>JetBrains</a:t>
            </a:r>
            <a:r>
              <a:rPr lang="es-ES" dirty="0"/>
              <a:t> </a:t>
            </a:r>
            <a:r>
              <a:rPr lang="es-ES" dirty="0" err="1"/>
              <a:t>Rider</a:t>
            </a:r>
            <a:endParaRPr lang="es-ES" dirty="0"/>
          </a:p>
          <a:p>
            <a:endParaRPr lang="es-ES" dirty="0"/>
          </a:p>
          <a:p>
            <a:r>
              <a:rPr lang="es-ES" dirty="0"/>
              <a:t>Gran comunidad: </a:t>
            </a:r>
          </a:p>
          <a:p>
            <a:pPr lvl="1"/>
            <a:r>
              <a:rPr lang="es-ES" dirty="0"/>
              <a:t>Plugins, soporte, controles, etc.</a:t>
            </a:r>
          </a:p>
          <a:p>
            <a:pPr lvl="1"/>
            <a:endParaRPr lang="es-ES" dirty="0"/>
          </a:p>
          <a:p>
            <a:r>
              <a:rPr lang="es-ES" dirty="0"/>
              <a:t>No usar Dart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C8BD859-CDCB-C0CD-A730-4B25C7472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518" y="0"/>
            <a:ext cx="4264634" cy="335059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6589F4E-3B22-EDF4-F163-10D34BD9B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530" y="4011078"/>
            <a:ext cx="4522470" cy="2846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142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76D95B-23A5-E412-12A8-7BB907FAC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¿Preguntas?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EFC3E0-5E81-6302-DF2C-9BC24C776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Canal de Telegram en español: </a:t>
            </a:r>
            <a:r>
              <a:rPr lang="es-ES" dirty="0">
                <a:hlinkClick r:id="rId3"/>
              </a:rPr>
              <a:t>https://t.me/DotNetMauiES</a:t>
            </a:r>
            <a:r>
              <a:rPr lang="es-ES" dirty="0"/>
              <a:t> </a:t>
            </a:r>
          </a:p>
          <a:p>
            <a:endParaRPr lang="es-ES" dirty="0"/>
          </a:p>
          <a:p>
            <a:r>
              <a:rPr lang="es-ES" dirty="0" err="1"/>
              <a:t>Github</a:t>
            </a:r>
            <a:r>
              <a:rPr lang="es-ES" dirty="0"/>
              <a:t>: </a:t>
            </a:r>
            <a:r>
              <a:rPr lang="es-ES" dirty="0">
                <a:hlinkClick r:id="rId4"/>
              </a:rPr>
              <a:t>https://github.com/dotnet/maui</a:t>
            </a:r>
            <a:r>
              <a:rPr lang="es-ES" dirty="0"/>
              <a:t> </a:t>
            </a:r>
          </a:p>
          <a:p>
            <a:endParaRPr lang="es-ES" dirty="0"/>
          </a:p>
          <a:p>
            <a:r>
              <a:rPr lang="es-ES" dirty="0" err="1"/>
              <a:t>Community</a:t>
            </a:r>
            <a:r>
              <a:rPr lang="es-ES" dirty="0"/>
              <a:t> </a:t>
            </a:r>
            <a:r>
              <a:rPr lang="es-ES" dirty="0" err="1"/>
              <a:t>Toolkit</a:t>
            </a:r>
            <a:r>
              <a:rPr lang="es-ES" dirty="0"/>
              <a:t>: </a:t>
            </a:r>
            <a:r>
              <a:rPr lang="es-ES" dirty="0">
                <a:hlinkClick r:id="rId5"/>
              </a:rPr>
              <a:t>https://github.com/CommunityToolkit/Maui</a:t>
            </a:r>
            <a:r>
              <a:rPr lang="es-ES" dirty="0"/>
              <a:t> </a:t>
            </a:r>
          </a:p>
          <a:p>
            <a:endParaRPr lang="es-ES" dirty="0"/>
          </a:p>
          <a:p>
            <a:r>
              <a:rPr lang="es-ES" dirty="0" err="1"/>
              <a:t>Syncfusion</a:t>
            </a:r>
            <a:r>
              <a:rPr lang="es-ES" dirty="0"/>
              <a:t> Essentials: </a:t>
            </a:r>
            <a:r>
              <a:rPr lang="es-ES" dirty="0">
                <a:hlinkClick r:id="rId6"/>
              </a:rPr>
              <a:t>https://github.com/syncfusion/essential-ui-kit-for-.net-maui</a:t>
            </a:r>
            <a:r>
              <a:rPr lang="es-E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35194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875EA8-063A-DC1E-F6BE-D1353E196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¡Muchas gracias!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22CF42-EE7F-7581-BF88-A7A3BCF67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✉️ marcoablanco@outlook.com</a:t>
            </a:r>
          </a:p>
          <a:p>
            <a:endParaRPr lang="es-ES" dirty="0"/>
          </a:p>
          <a:p>
            <a:r>
              <a:rPr lang="es-ES" dirty="0"/>
              <a:t>Mastodon</a:t>
            </a:r>
          </a:p>
          <a:p>
            <a:pPr lvl="1"/>
            <a:r>
              <a:rPr lang="es-ES" dirty="0"/>
              <a:t>@marcoablanco@xarxa.cloud</a:t>
            </a:r>
          </a:p>
          <a:p>
            <a:pPr lvl="1"/>
            <a:endParaRPr lang="es-ES" dirty="0"/>
          </a:p>
          <a:p>
            <a:r>
              <a:rPr lang="es-ES" dirty="0"/>
              <a:t>Diapositivas y demo</a:t>
            </a:r>
          </a:p>
          <a:p>
            <a:pPr lvl="1"/>
            <a:r>
              <a:rPr lang="es-ES" dirty="0">
                <a:hlinkClick r:id="rId2"/>
              </a:rPr>
              <a:t>https://github.com/marcoablanco/Events</a:t>
            </a:r>
            <a:endParaRPr lang="es-ES" dirty="0"/>
          </a:p>
          <a:p>
            <a:endParaRPr lang="es-ES" dirty="0"/>
          </a:p>
          <a:p>
            <a:r>
              <a:rPr lang="es-ES" dirty="0"/>
              <a:t>Canal de Telegram</a:t>
            </a:r>
          </a:p>
          <a:p>
            <a:pPr lvl="1"/>
            <a:r>
              <a:rPr lang="es-ES" dirty="0">
                <a:hlinkClick r:id="rId3"/>
              </a:rPr>
              <a:t>https://t.me/DotNetMauiES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676108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4350</TotalTime>
  <Words>349</Words>
  <Application>Microsoft Office PowerPoint</Application>
  <PresentationFormat>Panorámica</PresentationFormat>
  <Paragraphs>122</Paragraphs>
  <Slides>18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Open Sans</vt:lpstr>
      <vt:lpstr>Segoe UI Light</vt:lpstr>
      <vt:lpstr>Segoe UI Semibold</vt:lpstr>
      <vt:lpstr>Tema de Office</vt:lpstr>
      <vt:lpstr>DotNet.Maui para Android</vt:lpstr>
      <vt:lpstr>¿Para qué lo usamos?</vt:lpstr>
      <vt:lpstr>Historia</vt:lpstr>
      <vt:lpstr>¿Qué es?</vt:lpstr>
      <vt:lpstr>¿Qué no es?</vt:lpstr>
      <vt:lpstr>Plataformas</vt:lpstr>
      <vt:lpstr>¿Cómo funciona?</vt:lpstr>
      <vt:lpstr>Controles nativos</vt:lpstr>
      <vt:lpstr>Controles</vt:lpstr>
      <vt:lpstr>Un lenguaje – Un proyecto</vt:lpstr>
      <vt:lpstr>MVVM</vt:lpstr>
      <vt:lpstr>Acceso a la API Nativa de la plataforma</vt:lpstr>
      <vt:lpstr>Open source</vt:lpstr>
      <vt:lpstr>XAML</vt:lpstr>
      <vt:lpstr>Accesibilidad</vt:lpstr>
      <vt:lpstr>Otras ventajas</vt:lpstr>
      <vt:lpstr>¿Preguntas?</vt:lpstr>
      <vt:lpstr>¡Muchas 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Antonio Blanco</dc:creator>
  <cp:lastModifiedBy>Marco Antonio Blanco</cp:lastModifiedBy>
  <cp:revision>8</cp:revision>
  <dcterms:created xsi:type="dcterms:W3CDTF">2026-04-18T20:22:34Z</dcterms:created>
  <dcterms:modified xsi:type="dcterms:W3CDTF">2026-04-23T15:51:48Z</dcterms:modified>
</cp:coreProperties>
</file>